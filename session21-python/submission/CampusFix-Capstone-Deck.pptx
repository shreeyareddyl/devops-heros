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fd40bba2374e0c" /><Relationship Type="http://schemas.openxmlformats.org/officeDocument/2006/relationships/extended-properties" Target="/docProps/app.xml" Id="Rc75a219c05f446db" /><Relationship Type="http://schemas.openxmlformats.org/officeDocument/2006/relationships/officeDocument" Target="/ppt/presentation.xml" Id="R3662092589e94a43" /></Relationships>
</file>

<file path=ppt/presentation.xml><?xml version="1.0" encoding="utf-8"?>
<p:presentation xmlns:p="http://schemas.openxmlformats.org/presentationml/2006/main">
  <p:sldMasterIdLst>
    <p:sldMasterId xmlns:r="http://schemas.openxmlformats.org/officeDocument/2006/relationships" id="2147483648" r:id="R857b2243dfee4a47"/>
  </p:sldMasterIdLst>
  <p:notesMasterIdLst>
    <p:notesMasterId xmlns:r="http://schemas.openxmlformats.org/officeDocument/2006/relationships" r:id="R06ffd9ba8a764ff4"/>
  </p:notesMasterIdLst>
  <p:sldIdLst>
    <p:sldId xmlns:r="http://schemas.openxmlformats.org/officeDocument/2006/relationships" id="256" r:id="R796d052a98124326"/>
    <p:sldId xmlns:r="http://schemas.openxmlformats.org/officeDocument/2006/relationships" id="257" r:id="R839a675930064078"/>
    <p:sldId xmlns:r="http://schemas.openxmlformats.org/officeDocument/2006/relationships" id="258" r:id="R8f6d82acd4be46b3"/>
    <p:sldId xmlns:r="http://schemas.openxmlformats.org/officeDocument/2006/relationships" id="259" r:id="R1a517e3c185047a3"/>
    <p:sldId xmlns:r="http://schemas.openxmlformats.org/officeDocument/2006/relationships" id="260" r:id="Rc7960ecedc17425f"/>
    <p:sldId xmlns:r="http://schemas.openxmlformats.org/officeDocument/2006/relationships" id="261" r:id="R192410f4ed394384"/>
    <p:sldId xmlns:r="http://schemas.openxmlformats.org/officeDocument/2006/relationships" id="262" r:id="Reaf12194233e452a"/>
    <p:sldId xmlns:r="http://schemas.openxmlformats.org/officeDocument/2006/relationships" id="263" r:id="R85b8b80a33f745fe"/>
    <p:sldId xmlns:r="http://schemas.openxmlformats.org/officeDocument/2006/relationships" id="264" r:id="R2759b26485794e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4e2461a1c5482f" /><Relationship Type="http://schemas.openxmlformats.org/officeDocument/2006/relationships/slideMaster" Target="/ppt/slideMasters/slideMaster1.xml" Id="R857b2243dfee4a47" /><Relationship Type="http://schemas.openxmlformats.org/officeDocument/2006/relationships/notesMaster" Target="/ppt/notesMasters/notesMaster1.xml" Id="R06ffd9ba8a764ff4" /><Relationship Type="http://schemas.openxmlformats.org/officeDocument/2006/relationships/presProps" Target="/ppt/presProps.xml" Id="Rdda99e0d51384ae9" /><Relationship Type="http://schemas.openxmlformats.org/officeDocument/2006/relationships/tableStyles" Target="/ppt/tableStyles.xml" Id="R89e813d478ca4d4e" /><Relationship Type="http://schemas.openxmlformats.org/officeDocument/2006/relationships/slide" Target="/ppt/slides/slide1.xml" Id="R796d052a98124326" /><Relationship Type="http://schemas.openxmlformats.org/officeDocument/2006/relationships/slide" Target="/ppt/slides/slide2.xml" Id="R839a675930064078" /><Relationship Type="http://schemas.openxmlformats.org/officeDocument/2006/relationships/slide" Target="/ppt/slides/slide3.xml" Id="R8f6d82acd4be46b3" /><Relationship Type="http://schemas.openxmlformats.org/officeDocument/2006/relationships/slide" Target="/ppt/slides/slide4.xml" Id="R1a517e3c185047a3" /><Relationship Type="http://schemas.openxmlformats.org/officeDocument/2006/relationships/slide" Target="/ppt/slides/slide5.xml" Id="Rc7960ecedc17425f" /><Relationship Type="http://schemas.openxmlformats.org/officeDocument/2006/relationships/slide" Target="/ppt/slides/slide6.xml" Id="R192410f4ed394384" /><Relationship Type="http://schemas.openxmlformats.org/officeDocument/2006/relationships/slide" Target="/ppt/slides/slide7.xml" Id="Reaf12194233e452a" /><Relationship Type="http://schemas.openxmlformats.org/officeDocument/2006/relationships/slide" Target="/ppt/slides/slide8.xml" Id="R85b8b80a33f745fe" /><Relationship Type="http://schemas.openxmlformats.org/officeDocument/2006/relationships/slide" Target="/ppt/slides/slide9.xml" Id="R2759b26485794e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4781bd208d43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57a4ea485a45a9" /><Relationship Type="http://schemas.openxmlformats.org/officeDocument/2006/relationships/notesMaster" Target="/ppt/notesMasters/notesMaster1.xml" Id="Rf3cce367c10e4f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52751d049a4120" /><Relationship Type="http://schemas.openxmlformats.org/officeDocument/2006/relationships/notesMaster" Target="/ppt/notesMasters/notesMaster1.xml" Id="R0be9ce802e5c40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a5fdedc863462e" /><Relationship Type="http://schemas.openxmlformats.org/officeDocument/2006/relationships/notesMaster" Target="/ppt/notesMasters/notesMaster1.xml" Id="Rafbe21b979a840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8a3ed5806a48bd" /><Relationship Type="http://schemas.openxmlformats.org/officeDocument/2006/relationships/notesMaster" Target="/ppt/notesMasters/notesMaster1.xml" Id="R50f5b42ba0b949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5c3bd198c344d9" /><Relationship Type="http://schemas.openxmlformats.org/officeDocument/2006/relationships/notesMaster" Target="/ppt/notesMasters/notesMaster1.xml" Id="Rd589b878590a4c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6a1129add34f66" /><Relationship Type="http://schemas.openxmlformats.org/officeDocument/2006/relationships/notesMaster" Target="/ppt/notesMasters/notesMaster1.xml" Id="Re0f3cafd64d049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2a01bb67304c00" /><Relationship Type="http://schemas.openxmlformats.org/officeDocument/2006/relationships/notesMaster" Target="/ppt/notesMasters/notesMaster1.xml" Id="R3cf1b81ec69f40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e3a4a51d0e64640" /><Relationship Type="http://schemas.openxmlformats.org/officeDocument/2006/relationships/notesMaster" Target="/ppt/notesMasters/notesMaster1.xml" Id="Rb2fbbc4490214b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a695649f8c4ea9" /><Relationship Type="http://schemas.openxmlformats.org/officeDocument/2006/relationships/notesMaster" Target="/ppt/notesMasters/notesMaster1.xml" Id="R0667c6217eeb43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guide, 10–15 seconds: introduce CampusFix as a campus issue reporting and tracking application. Say the project name is CampusFix because the capstone rubric asks for the student's own application domain; TaskBoard is the reference starter, not the required product 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guide, about 30 seconds: show the current Compose app in the browser. Explain the custom campus domain, then create one safe demo ticket if a live demonstration is required. The current image is evidence from the running Compose stack; screenshots 09 and 10 are older captures.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guide, about 25 seconds: trace one ticket request from the browser to the API and PostgreSQL. Then explain that the /metrics endpoint is scraped by Prometheus and visualized in Grafana. Mention that Compose runs this locally and Helm deploys it to Kubernetes.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guide, about 30 seconds: show the metrics endpoint screenshot, then switch to a real terminal and run `python -m pytest -v backend` from the repository root or the documented equivalent inside the backend container. The last local run passed 25 tests with two third-party deprecation warnings. Capture that terminal output separately; this deck image is not a terminal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guide, about 25 seconds: explain that the Windows laptop runs Ubuntu through WSL 2 and Docker Engine inside that Linux environment. Show `docker compose ps` with the three healthy services, then the browser at localhost:3000. Capture `docker compose up --build` output separately for M4.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guide, about 35 seconds: show the application from the Minikube Ingress, then switch to the Linux terminal and show `kubectl get pods -n campusfix`, `kubectl get svc -n campusfix`, and `helm list -n campusfix`. The current local namespace has five app/database pods running. Capture all three terminal commands as separate rubric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guide, about 35 seconds: show the Prometheus Targets page and point out both CampusFix backend targets are UP. Open the CampusFix Grafana dashboard and briefly explain the request, pod, route-rate, latency, and response-status panels. The `/metrics` page is on slide 4; for the rubric also capture the required `curl` output in the terminal.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guide, about 40 seconds: describe the pipeline stages from the workflow file. Explain that local Trivy scans are clean for HIGH and CRITICAL findings, but distinguish those local results from the required Actions run output. Do not claim GHCR publication or a live pipeline run; no push was made. The M10 live demo remains outstanding until a change is pushed and deployment credentials are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Recording guide, about 25 seconds: close by stating exactly what is done and what remains. Terraform configuration is validated, but the AWS account and infrastructure have not been set up. Do not say AWS or the GitHub pipeline is complete. The instructor expects the M10 demo to show a pushed change, pipeline run, and deployment update once those are available. End by inviting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c2e48e3f7a4d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ddeb6a20934d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985498f0614f6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9af6cf8a104c3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eaa829406049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f4a938b26347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7F36D0-8784-4346-9D7E-63EA1994B73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02E2D9C-58C7-44B1-8274-F7F8AE02D80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E5AB12-5164-4B61-A8C2-97E08904AC5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5E55C9-3B1C-4806-A1F0-3B05A63FA5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ED1163-8E4C-4E0B-BB6B-EC93D51356C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1A85857-CD5D-4AF2-AE07-AB60A62D78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199048-8FFD-4A5D-A3C1-22A80A3D5D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73F9F64-B420-45E6-8386-BD75427A282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D7DD4F-DED9-40DA-9DDE-46065225C9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214C13-1161-4E35-A94A-F11B69C0C5D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d94489f83a48de" /><Relationship Type="http://schemas.openxmlformats.org/officeDocument/2006/relationships/slideLayout" Target="/ppt/slideLayouts/slideLayout1.xml" Id="Rb8c06e34a4654895" /><Relationship Type="http://schemas.openxmlformats.org/officeDocument/2006/relationships/slideLayout" Target="/ppt/slideLayouts/slideLayout2.xml" Id="R5241afcf49364afd" /><Relationship Type="http://schemas.openxmlformats.org/officeDocument/2006/relationships/slideLayout" Target="/ppt/slideLayouts/slideLayout3.xml" Id="Rceba5749dc854f4a" /><Relationship Type="http://schemas.openxmlformats.org/officeDocument/2006/relationships/slideLayout" Target="/ppt/slideLayouts/slideLayout4.xml" Id="R27df871f590c4660" /><Relationship Type="http://schemas.openxmlformats.org/officeDocument/2006/relationships/slideLayout" Target="/ppt/slideLayouts/slideLayout5.xml" Id="R1d8348a017e34c27" /><Relationship Type="http://schemas.openxmlformats.org/officeDocument/2006/relationships/slideLayout" Target="/ppt/slideLayouts/slideLayout6.xml" Id="Rbc5b8f3f004741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c06e34a4654895"/>
    <p:sldLayoutId xmlns:r="http://schemas.openxmlformats.org/officeDocument/2006/relationships" id="2147483650" r:id="R5241afcf49364afd"/>
    <p:sldLayoutId xmlns:r="http://schemas.openxmlformats.org/officeDocument/2006/relationships" id="2147483651" r:id="Rceba5749dc854f4a"/>
    <p:sldLayoutId xmlns:r="http://schemas.openxmlformats.org/officeDocument/2006/relationships" id="2147483652" r:id="R27df871f590c4660"/>
    <p:sldLayoutId xmlns:r="http://schemas.openxmlformats.org/officeDocument/2006/relationships" id="2147483653" r:id="R1d8348a017e34c27"/>
    <p:sldLayoutId xmlns:r="http://schemas.openxmlformats.org/officeDocument/2006/relationships" id="2147483654" r:id="Rbc5b8f3f004741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22ab1c44e5048e6" /><Relationship Type="http://schemas.openxmlformats.org/officeDocument/2006/relationships/notesSlide" Target="/ppt/notesSlides/notesSlide1.xml" Id="R48f6fbcc7d594d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f5c54417c9c42c1" /><Relationship Type="http://schemas.openxmlformats.org/officeDocument/2006/relationships/image" Target="/ppt/media/image.png" Id="R696a46c930104989" /><Relationship Type="http://schemas.openxmlformats.org/officeDocument/2006/relationships/notesSlide" Target="/ppt/notesSlides/notesSlide2.xml" Id="R314f8ca9e7114a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ef2809dc6bb4c88" /><Relationship Type="http://schemas.openxmlformats.org/officeDocument/2006/relationships/notesSlide" Target="/ppt/notesSlides/notesSlide3.xml" Id="R9b56d14656a64e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39e4ab50d854dbf" /><Relationship Type="http://schemas.openxmlformats.org/officeDocument/2006/relationships/image" Target="/ppt/media/image2.png" Id="R291410d6b50f4ca2" /><Relationship Type="http://schemas.openxmlformats.org/officeDocument/2006/relationships/notesSlide" Target="/ppt/notesSlides/notesSlide4.xml" Id="R38f73b5c25df46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a63b592a7d449ae" /><Relationship Type="http://schemas.openxmlformats.org/officeDocument/2006/relationships/notesSlide" Target="/ppt/notesSlides/notesSlide5.xml" Id="R35f91fc2a7b142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6b1dbdcb7cf4d67" /><Relationship Type="http://schemas.openxmlformats.org/officeDocument/2006/relationships/image" Target="/ppt/media/image3.png" Id="R19054a1d4d064493" /><Relationship Type="http://schemas.openxmlformats.org/officeDocument/2006/relationships/notesSlide" Target="/ppt/notesSlides/notesSlide6.xml" Id="R9dc9132281394a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6e3292cc5bf4db9" /><Relationship Type="http://schemas.openxmlformats.org/officeDocument/2006/relationships/image" Target="/ppt/media/image4.png" Id="R81a245b1a7b84f0f" /><Relationship Type="http://schemas.openxmlformats.org/officeDocument/2006/relationships/image" Target="/ppt/media/image5.png" Id="R001a235cf1cc402a" /><Relationship Type="http://schemas.openxmlformats.org/officeDocument/2006/relationships/notesSlide" Target="/ppt/notesSlides/notesSlide7.xml" Id="Rd54408545bfc46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78894f1654846c6" /><Relationship Type="http://schemas.openxmlformats.org/officeDocument/2006/relationships/notesSlide" Target="/ppt/notesSlides/notesSlide8.xml" Id="R3551a465e5dd45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ebd8e3448304113" /><Relationship Type="http://schemas.openxmlformats.org/officeDocument/2006/relationships/notesSlide" Target="/ppt/notesSlides/notesSlide9.xml" Id="Re6b0edc6a62e407f" /></Relationships>
</file>

<file path=ppt/slides/slide1.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4" name="project-title">
            <a:extLst xmlns:a="http://schemas.openxmlformats.org/drawingml/2006/main">
              <a:ext uri="{FF2B5EF4-FFF2-40B4-BE49-F238E27FC236}">
                <a16:creationId xmlns:a16="http://schemas.microsoft.com/office/drawing/2014/main" id="{E2932B8F-6636-4274-B5E9-789DBC2635C0}"/>
              </a:ext>
            </a:extLst>
          </p:cNvPr>
          <p:cNvSpPr>
            <a:spLocks xmlns:a="http://schemas.openxmlformats.org/drawingml/2006/main" noGrp="1"/>
          </p:cNvSpPr>
          <p:nvPr/>
        </p:nvSpPr>
        <p:spPr>
          <a:xfrm xmlns:a="http://schemas.openxmlformats.org/drawingml/2006/main">
            <a:off x="800100" y="17907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1">
                <a:solidFill>
                  <a:srgbClr val="FFFFFF"/>
                </a:solidFill>
                <a:latin typeface="Arial"/>
                <a:ea typeface="Arial"/>
                <a:cs typeface="Arial"/>
              </a:defRPr>
            </a:defPPr>
          </a:lstStyle>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CampusFix</a:t>
            </a:r>
          </a:p>
        </p:txBody>
      </p:sp>
      <p:sp>
        <p:nvSpPr>
          <p:cNvPr id="2" name="project-subtitle">
            <a:extLst xmlns:a="http://schemas.openxmlformats.org/drawingml/2006/main">
              <a:ext uri="{FF2B5EF4-FFF2-40B4-BE49-F238E27FC236}">
                <a16:creationId xmlns:a16="http://schemas.microsoft.com/office/drawing/2014/main" id="{360A7EE7-C4C8-4DB0-B6DA-5A45277517A8}"/>
              </a:ext>
            </a:extLst>
          </p:cNvPr>
          <p:cNvSpPr>
            <a:spLocks xmlns:a="http://schemas.openxmlformats.org/drawingml/2006/main" noGrp="1"/>
          </p:cNvSpPr>
          <p:nvPr/>
        </p:nvSpPr>
        <p:spPr>
          <a:xfrm xmlns:a="http://schemas.openxmlformats.org/drawingml/2006/main">
            <a:off x="838200" y="2857500"/>
            <a:ext cx="8477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a:solidFill>
                  <a:srgbClr val="D7E6F7"/>
                </a:solidFill>
                <a:latin typeface="Arial"/>
                <a:ea typeface="Arial"/>
                <a:cs typeface="Arial"/>
              </a:defRPr>
            </a:defPPr>
          </a:lstStyle>
          <a:p xmlns:a="http://schemas.openxmlformats.org/drawingml/2006/main">
            <a:pPr algn="l">
              <a:defRPr sz="2550">
                <a:solidFill>
                  <a:srgbClr val="D7E6F7"/>
                </a:solidFill>
                <a:latin typeface="Arial"/>
                <a:ea typeface="Arial"/>
                <a:cs typeface="Arial"/>
              </a:defRPr>
            </a:pPr>
            <a:r>
              <a:rPr sz="2550">
                <a:solidFill>
                  <a:srgbClr val="D7E6F7"/>
                </a:solidFill>
                <a:latin typeface="Arial"/>
                <a:ea typeface="Arial"/>
                <a:cs typeface="Arial"/>
              </a:rPr>
              <a:t>Campus maintenance and IT support</a:t>
            </a:r>
          </a:p>
        </p:txBody>
      </p:sp>
      <p:sp>
        <p:nvSpPr>
          <p:cNvPr id="3" name="presenter">
            <a:extLst xmlns:a="http://schemas.openxmlformats.org/drawingml/2006/main">
              <a:ext uri="{FF2B5EF4-FFF2-40B4-BE49-F238E27FC236}">
                <a16:creationId xmlns:a16="http://schemas.microsoft.com/office/drawing/2014/main" id="{93D8277C-BE8E-488D-AB46-186917166F49}"/>
              </a:ext>
            </a:extLst>
          </p:cNvPr>
          <p:cNvSpPr>
            <a:spLocks xmlns:a="http://schemas.openxmlformats.org/drawingml/2006/main" noGrp="1"/>
          </p:cNvSpPr>
          <p:nvPr/>
        </p:nvSpPr>
        <p:spPr>
          <a:xfrm xmlns:a="http://schemas.openxmlformats.org/drawingml/2006/main">
            <a:off x="838200" y="5191125"/>
            <a:ext cx="933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a:solidFill>
                  <a:srgbClr val="D7E6F7"/>
                </a:solidFill>
                <a:latin typeface="Arial"/>
                <a:ea typeface="Arial"/>
                <a:cs typeface="Arial"/>
              </a:defRPr>
            </a:defPPr>
          </a:lstStyle>
          <a:p xmlns:a="http://schemas.openxmlformats.org/drawingml/2006/main">
            <a:pPr algn="l">
              <a:defRPr sz="1725">
                <a:solidFill>
                  <a:srgbClr val="D7E6F7"/>
                </a:solidFill>
                <a:latin typeface="Arial"/>
                <a:ea typeface="Arial"/>
                <a:cs typeface="Arial"/>
              </a:defRPr>
            </a:pPr>
            <a:r>
              <a:rPr sz="1725">
                <a:solidFill>
                  <a:srgbClr val="D7E6F7"/>
                </a:solidFill>
                <a:latin typeface="Arial"/>
                <a:ea typeface="Arial"/>
                <a:cs typeface="Arial"/>
              </a:rPr>
              <a:t>DevOps capstone · Shreeya Reddy · Session 21</a:t>
            </a:r>
          </a:p>
        </p:txBody>
      </p:sp>
    </p:spTree>
    <p:extLst>
      <p:ext uri="{BB962C8B-B14F-4D97-AF65-F5344CB8AC3E}">
        <p14:creationId xmlns:p14="http://schemas.microsoft.com/office/powerpoint/2010/main" val="1894331502"/>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EC6E462-E116-426D-ADAD-44466177A0EA}"/>
              </a:ext>
            </a:extLst>
          </p:cNvPr>
          <p:cNvSpPr>
            <a:spLocks xmlns:a="http://schemas.openxmlformats.org/drawingml/2006/main" noGrp="1"/>
          </p:cNvSpPr>
          <p:nvPr/>
        </p:nvSpPr>
        <p:spPr>
          <a:xfrm xmlns:a="http://schemas.openxmlformats.org/drawingml/2006/main">
            <a:off x="685800" y="4572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0B1F3A"/>
                </a:solidFill>
                <a:latin typeface="Arial"/>
                <a:ea typeface="Arial"/>
                <a:cs typeface="Arial"/>
              </a:defRPr>
            </a:defPPr>
          </a:lstStyle>
          <a:p xmlns:a="http://schemas.openxmlformats.org/drawingml/2006/main">
            <a:pPr algn="l">
              <a:defRPr sz="3450" b="1">
                <a:solidFill>
                  <a:srgbClr val="0B1F3A"/>
                </a:solidFill>
                <a:latin typeface="Arial"/>
                <a:ea typeface="Arial"/>
                <a:cs typeface="Arial"/>
              </a:defRPr>
            </a:pPr>
            <a:r>
              <a:rPr sz="3450" b="1">
                <a:solidFill>
                  <a:srgbClr val="0B1F3A"/>
                </a:solidFill>
                <a:latin typeface="Arial"/>
                <a:ea typeface="Arial"/>
                <a:cs typeface="Arial"/>
              </a:rPr>
              <a:t>CampusFix turns campus issues into trackable tickets</a:t>
            </a:r>
          </a:p>
        </p:txBody>
      </p:sp>
      <p:sp>
        <p:nvSpPr>
          <p:cNvPr id="2" name="product-purpose">
            <a:extLst xmlns:a="http://schemas.openxmlformats.org/drawingml/2006/main">
              <a:ext uri="{FF2B5EF4-FFF2-40B4-BE49-F238E27FC236}">
                <a16:creationId xmlns:a16="http://schemas.microsoft.com/office/drawing/2014/main" id="{ED29EEF4-E010-40BB-95BF-3DAFDD5BA0F0}"/>
              </a:ext>
            </a:extLst>
          </p:cNvPr>
          <p:cNvSpPr>
            <a:spLocks xmlns:a="http://schemas.openxmlformats.org/drawingml/2006/main" noGrp="1"/>
          </p:cNvSpPr>
          <p:nvPr/>
        </p:nvSpPr>
        <p:spPr>
          <a:xfrm xmlns:a="http://schemas.openxmlformats.org/drawingml/2006/main">
            <a:off x="685800" y="1562100"/>
            <a:ext cx="4572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75" b="1">
                <a:solidFill>
                  <a:srgbClr val="142033"/>
                </a:solidFill>
                <a:latin typeface="Arial"/>
                <a:ea typeface="Arial"/>
                <a:cs typeface="Arial"/>
              </a:defRPr>
            </a:defPPr>
          </a:lstStyle>
          <a:p xmlns:a="http://schemas.openxmlformats.org/drawingml/2006/main">
            <a:pPr algn="l">
              <a:defRPr sz="2175" b="1">
                <a:solidFill>
                  <a:srgbClr val="142033"/>
                </a:solidFill>
                <a:latin typeface="Arial"/>
                <a:ea typeface="Arial"/>
                <a:cs typeface="Arial"/>
              </a:defRPr>
            </a:pPr>
            <a:r>
              <a:rPr sz="2175" b="1">
                <a:solidFill>
                  <a:srgbClr val="142033"/>
                </a:solidFill>
                <a:latin typeface="Arial"/>
                <a:ea typeface="Arial"/>
                <a:cs typeface="Arial"/>
              </a:rPr>
              <a:t>Students and staff can report maintenance and IT problems, then follow each ticket through resolution.</a:t>
            </a:r>
          </a:p>
        </p:txBody>
      </p:sp>
      <p:sp>
        <p:nvSpPr>
          <p:cNvPr id="3" name="product-details">
            <a:extLst xmlns:a="http://schemas.openxmlformats.org/drawingml/2006/main">
              <a:ext uri="{FF2B5EF4-FFF2-40B4-BE49-F238E27FC236}">
                <a16:creationId xmlns:a16="http://schemas.microsoft.com/office/drawing/2014/main" id="{F5D18EF4-5675-43A2-8AE3-FD84F5B6898D}"/>
              </a:ext>
            </a:extLst>
          </p:cNvPr>
          <p:cNvSpPr>
            <a:spLocks xmlns:a="http://schemas.openxmlformats.org/drawingml/2006/main" noGrp="1"/>
          </p:cNvSpPr>
          <p:nvPr/>
        </p:nvSpPr>
        <p:spPr>
          <a:xfrm xmlns:a="http://schemas.openxmlformats.org/drawingml/2006/main">
            <a:off x="685800" y="3143250"/>
            <a:ext cx="4667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a:solidFill>
                  <a:srgbClr val="526174"/>
                </a:solidFill>
                <a:latin typeface="Arial"/>
                <a:ea typeface="Arial"/>
                <a:cs typeface="Arial"/>
              </a:defRPr>
            </a:defPPr>
          </a:lstStyle>
          <a:p xmlns:a="http://schemas.openxmlformats.org/drawingml/2006/main">
            <a:pPr algn="l">
              <a:defRPr sz="1800">
                <a:solidFill>
                  <a:srgbClr val="526174"/>
                </a:solidFill>
                <a:latin typeface="Arial"/>
                <a:ea typeface="Arial"/>
                <a:cs typeface="Arial"/>
              </a:defRPr>
            </a:pPr>
            <a:r>
              <a:rPr sz="1800">
                <a:solidFill>
                  <a:srgbClr val="526174"/>
                </a:solidFill>
                <a:latin typeface="Arial"/>
                <a:ea typeface="Arial"/>
                <a:cs typeface="Arial"/>
              </a:rPr>
              <a:t>Examples include Wi-Fi outages, classroom AV faults, plumbing, electrical issues, and lab equipment. The backend validates status changes: OPEN → IN_PROGRESS → RESOLVED.</a:t>
            </a:r>
          </a:p>
        </p:txBody>
      </p:sp>
      <p:pic>
        <p:nvPicPr>
          <p:cNvPr id="4" name="">
            <a:extLst xmlns:a="http://schemas.openxmlformats.org/drawingml/2006/main">
              <a:ext uri="{FF2B5EF4-FFF2-40B4-BE49-F238E27FC236}">
                <a16:creationId xmlns:a16="http://schemas.microsoft.com/office/drawing/2014/main" id="{71230DEA-48B0-4760-969E-508A50D7DA52}"/>
              </a:ext>
            </a:extLst>
          </p:cNvPr>
          <p:cNvPicPr>
            <a:picLocks xmlns:a="http://schemas.openxmlformats.org/drawingml/2006/main" noChangeAspect="1"/>
          </p:cNvPicPr>
          <p:nvPr/>
        </p:nvPicPr>
        <p:blipFill>
          <a:blip xmlns:r="http://schemas.openxmlformats.org/officeDocument/2006/relationships" xmlns:a="http://schemas.openxmlformats.org/drawingml/2006/main" r:embed="R696a46c930104989"/>
          <a:stretch xmlns:a="http://schemas.openxmlformats.org/drawingml/2006/main"/>
        </p:blipFill>
        <p:spPr>
          <a:xfrm xmlns:a="http://schemas.openxmlformats.org/drawingml/2006/main">
            <a:off x="5810250" y="1622690"/>
            <a:ext cx="5695950" cy="3955521"/>
          </a:xfrm>
          <a:prstGeom xmlns:a="http://schemas.openxmlformats.org/drawingml/2006/main" prst="rect">
            <a:avLst/>
          </a:prstGeom>
        </p:spPr>
      </p:pic>
    </p:spTree>
    <p:extLst>
      <p:ext uri="{BB962C8B-B14F-4D97-AF65-F5344CB8AC3E}">
        <p14:creationId xmlns:p14="http://schemas.microsoft.com/office/powerpoint/2010/main" val="185822115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3B303836-AB17-4F13-9C17-67D2BC8A2534}"/>
              </a:ext>
            </a:extLst>
          </p:cNvPr>
          <p:cNvCxnSpPr>
            <a:stCxn xmlns:a="http://schemas.openxmlformats.org/drawingml/2006/main" id="5" idx="3"/>
            <a:endCxn xmlns:a="http://schemas.openxmlformats.org/drawingml/2006/main" id="6" idx="1"/>
          </p:cNvCxnSpPr>
          <p:nvPr/>
        </p:nvCxnSpPr>
        <p:spPr>
          <a:xfrm xmlns:a="http://schemas.openxmlformats.org/drawingml/2006/main">
            <a:off x="8458200" y="3228975"/>
            <a:ext cx="800100" cy="0"/>
          </a:xfrm>
          <a:prstGeom xmlns:a="http://schemas.openxmlformats.org/drawingml/2006/main" prst="straightConnector1">
            <a:avLst/>
          </a:prstGeom>
          <a:ln xmlns:a="http://schemas.openxmlformats.org/drawingml/2006/main" w="28575">
            <a:solidFill>
              <a:srgbClr val="1D4ED8"/>
            </a:solidFill>
            <a:prstDash val="solid"/>
            <a:tailEnd type="triangle" w="sm" len="sm"/>
          </a:ln>
        </p:spPr>
      </p:cxnSp>
      <p:cxnSp>
        <p:nvCxnSpPr>
          <p:cNvPr id="8" name="">
            <a:extLst xmlns:a="http://schemas.openxmlformats.org/drawingml/2006/main">
              <a:ext uri="{FF2B5EF4-FFF2-40B4-BE49-F238E27FC236}">
                <a16:creationId xmlns:a16="http://schemas.microsoft.com/office/drawing/2014/main" id="{0CADEB2A-3042-4F7D-BC02-7912AF8791D3}"/>
              </a:ext>
            </a:extLst>
          </p:cNvPr>
          <p:cNvCxnSpPr>
            <a:stCxn xmlns:a="http://schemas.openxmlformats.org/drawingml/2006/main" id="4" idx="3"/>
            <a:endCxn xmlns:a="http://schemas.openxmlformats.org/drawingml/2006/main" id="5" idx="1"/>
          </p:cNvCxnSpPr>
          <p:nvPr/>
        </p:nvCxnSpPr>
        <p:spPr>
          <a:xfrm xmlns:a="http://schemas.openxmlformats.org/drawingml/2006/main">
            <a:off x="5562600" y="3228975"/>
            <a:ext cx="800100" cy="0"/>
          </a:xfrm>
          <a:prstGeom xmlns:a="http://schemas.openxmlformats.org/drawingml/2006/main" prst="straightConnector1">
            <a:avLst/>
          </a:prstGeom>
          <a:ln xmlns:a="http://schemas.openxmlformats.org/drawingml/2006/main" w="28575">
            <a:solidFill>
              <a:srgbClr val="1D4ED8"/>
            </a:solidFill>
            <a:prstDash val="solid"/>
            <a:tailEnd type="triangle" w="sm" len="sm"/>
          </a:ln>
        </p:spPr>
      </p:cxnSp>
      <p:cxnSp>
        <p:nvCxnSpPr>
          <p:cNvPr id="7" name="">
            <a:extLst xmlns:a="http://schemas.openxmlformats.org/drawingml/2006/main">
              <a:ext uri="{FF2B5EF4-FFF2-40B4-BE49-F238E27FC236}">
                <a16:creationId xmlns:a16="http://schemas.microsoft.com/office/drawing/2014/main" id="{0CE1EDAA-1508-4B4E-B4E7-F748832130A1}"/>
              </a:ext>
            </a:extLst>
          </p:cNvPr>
          <p:cNvCxnSpPr>
            <a:stCxn xmlns:a="http://schemas.openxmlformats.org/drawingml/2006/main" id="3" idx="3"/>
            <a:endCxn xmlns:a="http://schemas.openxmlformats.org/drawingml/2006/main" id="4" idx="1"/>
          </p:cNvCxnSpPr>
          <p:nvPr/>
        </p:nvCxnSpPr>
        <p:spPr>
          <a:xfrm xmlns:a="http://schemas.openxmlformats.org/drawingml/2006/main">
            <a:off x="2667000" y="3228975"/>
            <a:ext cx="762000" cy="0"/>
          </a:xfrm>
          <a:prstGeom xmlns:a="http://schemas.openxmlformats.org/drawingml/2006/main" prst="straightConnector1">
            <a:avLst/>
          </a:prstGeom>
          <a:ln xmlns:a="http://schemas.openxmlformats.org/drawingml/2006/main" w="28575">
            <a:solidFill>
              <a:srgbClr val="1D4ED8"/>
            </a:solidFill>
            <a:prstDash val="solid"/>
            <a:tailEnd type="triangle" w="sm" len="sm"/>
          </a:ln>
        </p:spPr>
      </p:cxnSp>
      <p:sp>
        <p:nvSpPr>
          <p:cNvPr id="12" name="slide-title">
            <a:extLst xmlns:a="http://schemas.openxmlformats.org/drawingml/2006/main">
              <a:ext uri="{FF2B5EF4-FFF2-40B4-BE49-F238E27FC236}">
                <a16:creationId xmlns:a16="http://schemas.microsoft.com/office/drawing/2014/main" id="{ABEF843E-D7F6-4011-93BF-751A21ED4EBF}"/>
              </a:ext>
            </a:extLst>
          </p:cNvPr>
          <p:cNvSpPr>
            <a:spLocks xmlns:a="http://schemas.openxmlformats.org/drawingml/2006/main" noGrp="1"/>
          </p:cNvSpPr>
          <p:nvPr/>
        </p:nvSpPr>
        <p:spPr>
          <a:xfrm xmlns:a="http://schemas.openxmlformats.org/drawingml/2006/main">
            <a:off x="685800" y="4572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0B1F3A"/>
                </a:solidFill>
                <a:latin typeface="Arial"/>
                <a:ea typeface="Arial"/>
                <a:cs typeface="Arial"/>
              </a:defRPr>
            </a:defPPr>
          </a:lstStyle>
          <a:p xmlns:a="http://schemas.openxmlformats.org/drawingml/2006/main">
            <a:pPr algn="l">
              <a:defRPr sz="3450" b="1">
                <a:solidFill>
                  <a:srgbClr val="0B1F3A"/>
                </a:solidFill>
                <a:latin typeface="Arial"/>
                <a:ea typeface="Arial"/>
                <a:cs typeface="Arial"/>
              </a:defRPr>
            </a:pPr>
            <a:r>
              <a:rPr sz="3450" b="1">
                <a:solidFill>
                  <a:srgbClr val="0B1F3A"/>
                </a:solidFill>
                <a:latin typeface="Arial"/>
                <a:ea typeface="Arial"/>
                <a:cs typeface="Arial"/>
              </a:rPr>
              <a:t>CampusFix service architecture</a:t>
            </a:r>
          </a:p>
        </p:txBody>
      </p:sp>
      <p:sp>
        <p:nvSpPr>
          <p:cNvPr id="2" name="architecture-intro">
            <a:extLst xmlns:a="http://schemas.openxmlformats.org/drawingml/2006/main">
              <a:ext uri="{FF2B5EF4-FFF2-40B4-BE49-F238E27FC236}">
                <a16:creationId xmlns:a16="http://schemas.microsoft.com/office/drawing/2014/main" id="{C6A77BCF-ADBF-4676-BF5A-9BEF0399B92B}"/>
              </a:ext>
            </a:extLst>
          </p:cNvPr>
          <p:cNvSpPr>
            <a:spLocks xmlns:a="http://schemas.openxmlformats.org/drawingml/2006/main" noGrp="1"/>
          </p:cNvSpPr>
          <p:nvPr/>
        </p:nvSpPr>
        <p:spPr>
          <a:xfrm xmlns:a="http://schemas.openxmlformats.org/drawingml/2006/main">
            <a:off x="685800" y="1371600"/>
            <a:ext cx="1038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a:solidFill>
                  <a:srgbClr val="526174"/>
                </a:solidFill>
                <a:latin typeface="Arial"/>
                <a:ea typeface="Arial"/>
                <a:cs typeface="Arial"/>
              </a:defRPr>
            </a:defPPr>
          </a:lstStyle>
          <a:p xmlns:a="http://schemas.openxmlformats.org/drawingml/2006/main">
            <a:pPr algn="l">
              <a:defRPr sz="1875">
                <a:solidFill>
                  <a:srgbClr val="526174"/>
                </a:solidFill>
                <a:latin typeface="Arial"/>
                <a:ea typeface="Arial"/>
                <a:cs typeface="Arial"/>
              </a:defRPr>
            </a:pPr>
            <a:r>
              <a:rPr sz="1875">
                <a:solidFill>
                  <a:srgbClr val="526174"/>
                </a:solidFill>
                <a:latin typeface="Arial"/>
                <a:ea typeface="Arial"/>
                <a:cs typeface="Arial"/>
              </a:rPr>
              <a:t>A browser request reaches the React frontend, passes through the API, and is stored in PostgreSQL.</a:t>
            </a:r>
          </a:p>
        </p:txBody>
      </p:sp>
      <p:sp>
        <p:nvSpPr>
          <p:cNvPr id="3" name="browser">
            <a:extLst xmlns:a="http://schemas.openxmlformats.org/drawingml/2006/main">
              <a:ext uri="{FF2B5EF4-FFF2-40B4-BE49-F238E27FC236}">
                <a16:creationId xmlns:a16="http://schemas.microsoft.com/office/drawing/2014/main" id="{E81B717F-17D0-4110-91BA-7D80BACDC361}"/>
              </a:ext>
            </a:extLst>
          </p:cNvPr>
          <p:cNvSpPr>
            <a:spLocks xmlns:a="http://schemas.openxmlformats.org/drawingml/2006/main" noGrp="1"/>
          </p:cNvSpPr>
          <p:nvPr/>
        </p:nvSpPr>
        <p:spPr>
          <a:xfrm xmlns:a="http://schemas.openxmlformats.org/drawingml/2006/main">
            <a:off x="685800" y="2667000"/>
            <a:ext cx="1981200" cy="1123950"/>
          </a:xfrm>
          <a:prstGeom xmlns:a="http://schemas.openxmlformats.org/drawingml/2006/main" prst="roundRect">
            <a:avLst>
              <a:gd name="adj" fmla="val 10169"/>
            </a:avLst>
          </a:prstGeom>
          <a:solidFill xmlns:a="http://schemas.openxmlformats.org/drawingml/2006/main">
            <a:srgbClr val="EAF1FC"/>
          </a:solidFill>
          <a:ln xmlns:a="http://schemas.openxmlformats.org/drawingml/2006/main" w="11430">
            <a:solidFill>
              <a:srgbClr val="D5DEE8"/>
            </a:solidFill>
            <a:prstDash val="solid"/>
          </a:ln>
        </p:spPr>
        <p:txBody>
          <a:bodyPr xmlns:a="http://schemas.openxmlformats.org/drawingml/2006/main" lIns="114300" tIns="76200" rIns="114300" bIns="76200" anchor="ctr">
            <a:noAutofit/>
          </a:bodyPr>
          <a:lstStyle xmlns:a="http://schemas.openxmlformats.org/drawingml/2006/main">
            <a:defPPr algn="ctr">
              <a:defRPr sz="1800" b="1">
                <a:solidFill>
                  <a:srgbClr val="0B1F3A"/>
                </a:solidFill>
                <a:latin typeface="Arial"/>
                <a:ea typeface="Arial"/>
                <a:cs typeface="Arial"/>
              </a:defRPr>
            </a:defPPr>
          </a:lstStyle>
          <a:p xmlns:a="http://schemas.openxmlformats.org/drawingml/2006/main">
            <a:pPr algn="ctr">
              <a:defRPr sz="1800" b="1">
                <a:solidFill>
                  <a:srgbClr val="0B1F3A"/>
                </a:solidFill>
                <a:latin typeface="Arial"/>
                <a:ea typeface="Arial"/>
                <a:cs typeface="Arial"/>
              </a:defRPr>
            </a:pPr>
            <a:r>
              <a:rPr sz="1800" b="1">
                <a:solidFill>
                  <a:srgbClr val="0B1F3A"/>
                </a:solidFill>
                <a:latin typeface="Arial"/>
                <a:ea typeface="Arial"/>
                <a:cs typeface="Arial"/>
              </a:rPr>
              <a:t>Browser</a:t>
            </a:r>
          </a:p>
        </p:txBody>
      </p:sp>
      <p:sp>
        <p:nvSpPr>
          <p:cNvPr id="4" name="frontend">
            <a:extLst xmlns:a="http://schemas.openxmlformats.org/drawingml/2006/main">
              <a:ext uri="{FF2B5EF4-FFF2-40B4-BE49-F238E27FC236}">
                <a16:creationId xmlns:a16="http://schemas.microsoft.com/office/drawing/2014/main" id="{2C53DC85-9B89-48CE-BEFF-992439C43036}"/>
              </a:ext>
            </a:extLst>
          </p:cNvPr>
          <p:cNvSpPr>
            <a:spLocks xmlns:a="http://schemas.openxmlformats.org/drawingml/2006/main" noGrp="1"/>
          </p:cNvSpPr>
          <p:nvPr/>
        </p:nvSpPr>
        <p:spPr>
          <a:xfrm xmlns:a="http://schemas.openxmlformats.org/drawingml/2006/main">
            <a:off x="3429000" y="2667000"/>
            <a:ext cx="2133600" cy="1123950"/>
          </a:xfrm>
          <a:prstGeom xmlns:a="http://schemas.openxmlformats.org/drawingml/2006/main" prst="roundRect">
            <a:avLst>
              <a:gd name="adj" fmla="val 10169"/>
            </a:avLst>
          </a:prstGeom>
          <a:solidFill xmlns:a="http://schemas.openxmlformats.org/drawingml/2006/main">
            <a:srgbClr val="E5F4F1"/>
          </a:solidFill>
          <a:ln xmlns:a="http://schemas.openxmlformats.org/drawingml/2006/main" w="11430">
            <a:solidFill>
              <a:srgbClr val="D5DEE8"/>
            </a:solidFill>
            <a:prstDash val="solid"/>
          </a:ln>
        </p:spPr>
        <p:txBody>
          <a:bodyPr xmlns:a="http://schemas.openxmlformats.org/drawingml/2006/main" lIns="114300" tIns="76200" rIns="114300" bIns="76200" anchor="ctr">
            <a:noAutofit/>
          </a:bodyPr>
          <a:lstStyle xmlns:a="http://schemas.openxmlformats.org/drawingml/2006/main">
            <a:defPPr algn="ctr">
              <a:defRPr sz="1800" b="1">
                <a:solidFill>
                  <a:srgbClr val="0B1F3A"/>
                </a:solidFill>
                <a:latin typeface="Arial"/>
                <a:ea typeface="Arial"/>
                <a:cs typeface="Arial"/>
              </a:defRPr>
            </a:defPPr>
          </a:lstStyle>
          <a:p xmlns:a="http://schemas.openxmlformats.org/drawingml/2006/main">
            <a:pPr algn="ctr">
              <a:defRPr sz="1800" b="1">
                <a:solidFill>
                  <a:srgbClr val="0B1F3A"/>
                </a:solidFill>
                <a:latin typeface="Arial"/>
                <a:ea typeface="Arial"/>
                <a:cs typeface="Arial"/>
              </a:defRPr>
            </a:pPr>
            <a:r>
              <a:rPr sz="1800" b="1">
                <a:solidFill>
                  <a:srgbClr val="0B1F3A"/>
                </a:solidFill>
                <a:latin typeface="Arial"/>
                <a:ea typeface="Arial"/>
                <a:cs typeface="Arial"/>
              </a:rPr>
              <a:t>React + Nginx</a:t>
            </a:r>
          </a:p>
          <a:p xmlns:a="http://schemas.openxmlformats.org/drawingml/2006/main">
            <a:pPr algn="ctr">
              <a:defRPr sz="1800" b="1">
                <a:solidFill>
                  <a:srgbClr val="0B1F3A"/>
                </a:solidFill>
                <a:latin typeface="Arial"/>
                <a:ea typeface="Arial"/>
                <a:cs typeface="Arial"/>
              </a:defRPr>
            </a:pPr>
            <a:r>
              <a:rPr sz="1800" b="1">
                <a:solidFill>
                  <a:srgbClr val="0B1F3A"/>
                </a:solidFill>
                <a:latin typeface="Arial"/>
                <a:ea typeface="Arial"/>
                <a:cs typeface="Arial"/>
              </a:rPr>
              <a:t>:3000</a:t>
            </a:r>
          </a:p>
        </p:txBody>
      </p:sp>
      <p:sp>
        <p:nvSpPr>
          <p:cNvPr id="5" name="backend">
            <a:extLst xmlns:a="http://schemas.openxmlformats.org/drawingml/2006/main">
              <a:ext uri="{FF2B5EF4-FFF2-40B4-BE49-F238E27FC236}">
                <a16:creationId xmlns:a16="http://schemas.microsoft.com/office/drawing/2014/main" id="{19F68B01-4EEC-4955-9832-5F95B37A195F}"/>
              </a:ext>
            </a:extLst>
          </p:cNvPr>
          <p:cNvSpPr>
            <a:spLocks xmlns:a="http://schemas.openxmlformats.org/drawingml/2006/main" noGrp="1"/>
          </p:cNvSpPr>
          <p:nvPr/>
        </p:nvSpPr>
        <p:spPr>
          <a:xfrm xmlns:a="http://schemas.openxmlformats.org/drawingml/2006/main">
            <a:off x="6362700" y="2667000"/>
            <a:ext cx="2095500" cy="1123950"/>
          </a:xfrm>
          <a:prstGeom xmlns:a="http://schemas.openxmlformats.org/drawingml/2006/main" prst="roundRect">
            <a:avLst>
              <a:gd name="adj" fmla="val 10169"/>
            </a:avLst>
          </a:prstGeom>
          <a:solidFill xmlns:a="http://schemas.openxmlformats.org/drawingml/2006/main">
            <a:srgbClr val="EAF1FC"/>
          </a:solidFill>
          <a:ln xmlns:a="http://schemas.openxmlformats.org/drawingml/2006/main" w="11430">
            <a:solidFill>
              <a:srgbClr val="D5DEE8"/>
            </a:solidFill>
            <a:prstDash val="solid"/>
          </a:ln>
        </p:spPr>
        <p:txBody>
          <a:bodyPr xmlns:a="http://schemas.openxmlformats.org/drawingml/2006/main" lIns="114300" tIns="76200" rIns="114300" bIns="76200" anchor="ctr">
            <a:noAutofit/>
          </a:bodyPr>
          <a:lstStyle xmlns:a="http://schemas.openxmlformats.org/drawingml/2006/main">
            <a:defPPr algn="ctr">
              <a:defRPr sz="1800" b="1">
                <a:solidFill>
                  <a:srgbClr val="0B1F3A"/>
                </a:solidFill>
                <a:latin typeface="Arial"/>
                <a:ea typeface="Arial"/>
                <a:cs typeface="Arial"/>
              </a:defRPr>
            </a:defPPr>
          </a:lstStyle>
          <a:p xmlns:a="http://schemas.openxmlformats.org/drawingml/2006/main">
            <a:pPr algn="ctr">
              <a:defRPr sz="1800" b="1">
                <a:solidFill>
                  <a:srgbClr val="0B1F3A"/>
                </a:solidFill>
                <a:latin typeface="Arial"/>
                <a:ea typeface="Arial"/>
                <a:cs typeface="Arial"/>
              </a:defRPr>
            </a:pPr>
            <a:r>
              <a:rPr sz="1800" b="1">
                <a:solidFill>
                  <a:srgbClr val="0B1F3A"/>
                </a:solidFill>
                <a:latin typeface="Arial"/>
                <a:ea typeface="Arial"/>
                <a:cs typeface="Arial"/>
              </a:rPr>
              <a:t>FastAPI</a:t>
            </a:r>
          </a:p>
          <a:p xmlns:a="http://schemas.openxmlformats.org/drawingml/2006/main">
            <a:pPr algn="ctr">
              <a:defRPr sz="1800" b="1">
                <a:solidFill>
                  <a:srgbClr val="0B1F3A"/>
                </a:solidFill>
                <a:latin typeface="Arial"/>
                <a:ea typeface="Arial"/>
                <a:cs typeface="Arial"/>
              </a:defRPr>
            </a:pPr>
            <a:r>
              <a:rPr sz="1800" b="1">
                <a:solidFill>
                  <a:srgbClr val="0B1F3A"/>
                </a:solidFill>
                <a:latin typeface="Arial"/>
                <a:ea typeface="Arial"/>
                <a:cs typeface="Arial"/>
              </a:rPr>
              <a:t>:8000</a:t>
            </a:r>
          </a:p>
        </p:txBody>
      </p:sp>
      <p:sp>
        <p:nvSpPr>
          <p:cNvPr id="6" name="database">
            <a:extLst xmlns:a="http://schemas.openxmlformats.org/drawingml/2006/main">
              <a:ext uri="{FF2B5EF4-FFF2-40B4-BE49-F238E27FC236}">
                <a16:creationId xmlns:a16="http://schemas.microsoft.com/office/drawing/2014/main" id="{35F6EDB0-B1D0-4A78-B191-4596FA5A40B6}"/>
              </a:ext>
            </a:extLst>
          </p:cNvPr>
          <p:cNvSpPr>
            <a:spLocks xmlns:a="http://schemas.openxmlformats.org/drawingml/2006/main" noGrp="1"/>
          </p:cNvSpPr>
          <p:nvPr/>
        </p:nvSpPr>
        <p:spPr>
          <a:xfrm xmlns:a="http://schemas.openxmlformats.org/drawingml/2006/main">
            <a:off x="9258300" y="2667000"/>
            <a:ext cx="2247900" cy="1123950"/>
          </a:xfrm>
          <a:prstGeom xmlns:a="http://schemas.openxmlformats.org/drawingml/2006/main" prst="roundRect">
            <a:avLst>
              <a:gd name="adj" fmla="val 10169"/>
            </a:avLst>
          </a:prstGeom>
          <a:solidFill xmlns:a="http://schemas.openxmlformats.org/drawingml/2006/main">
            <a:srgbClr val="FFF1E8"/>
          </a:solidFill>
          <a:ln xmlns:a="http://schemas.openxmlformats.org/drawingml/2006/main" w="11430">
            <a:solidFill>
              <a:srgbClr val="D5DEE8"/>
            </a:solidFill>
            <a:prstDash val="solid"/>
          </a:ln>
        </p:spPr>
        <p:txBody>
          <a:bodyPr xmlns:a="http://schemas.openxmlformats.org/drawingml/2006/main" lIns="114300" tIns="76200" rIns="114300" bIns="76200" anchor="ctr">
            <a:noAutofit/>
          </a:bodyPr>
          <a:lstStyle xmlns:a="http://schemas.openxmlformats.org/drawingml/2006/main">
            <a:defPPr algn="ctr">
              <a:defRPr sz="1800" b="1">
                <a:solidFill>
                  <a:srgbClr val="0B1F3A"/>
                </a:solidFill>
                <a:latin typeface="Arial"/>
                <a:ea typeface="Arial"/>
                <a:cs typeface="Arial"/>
              </a:defRPr>
            </a:defPPr>
          </a:lstStyle>
          <a:p xmlns:a="http://schemas.openxmlformats.org/drawingml/2006/main">
            <a:pPr algn="ctr">
              <a:defRPr sz="1800" b="1">
                <a:solidFill>
                  <a:srgbClr val="0B1F3A"/>
                </a:solidFill>
                <a:latin typeface="Arial"/>
                <a:ea typeface="Arial"/>
                <a:cs typeface="Arial"/>
              </a:defRPr>
            </a:pPr>
            <a:r>
              <a:rPr sz="1800" b="1">
                <a:solidFill>
                  <a:srgbClr val="0B1F3A"/>
                </a:solidFill>
                <a:latin typeface="Arial"/>
                <a:ea typeface="Arial"/>
                <a:cs typeface="Arial"/>
              </a:rPr>
              <a:t>PostgreSQL 16</a:t>
            </a:r>
          </a:p>
          <a:p xmlns:a="http://schemas.openxmlformats.org/drawingml/2006/main">
            <a:pPr algn="ctr">
              <a:defRPr sz="1800" b="1">
                <a:solidFill>
                  <a:srgbClr val="0B1F3A"/>
                </a:solidFill>
                <a:latin typeface="Arial"/>
                <a:ea typeface="Arial"/>
                <a:cs typeface="Arial"/>
              </a:defRPr>
            </a:pPr>
            <a:r>
              <a:rPr sz="1800" b="1">
                <a:solidFill>
                  <a:srgbClr val="0B1F3A"/>
                </a:solidFill>
                <a:latin typeface="Arial"/>
                <a:ea typeface="Arial"/>
                <a:cs typeface="Arial"/>
              </a:rPr>
              <a:t>:5432</a:t>
            </a:r>
          </a:p>
        </p:txBody>
      </p:sp>
      <p:sp>
        <p:nvSpPr>
          <p:cNvPr id="10" name="observability-flow">
            <a:extLst xmlns:a="http://schemas.openxmlformats.org/drawingml/2006/main">
              <a:ext uri="{FF2B5EF4-FFF2-40B4-BE49-F238E27FC236}">
                <a16:creationId xmlns:a16="http://schemas.microsoft.com/office/drawing/2014/main" id="{760D6E01-81DE-427E-BEAA-A2BABCB8CA9B}"/>
              </a:ext>
            </a:extLst>
          </p:cNvPr>
          <p:cNvSpPr>
            <a:spLocks xmlns:a="http://schemas.openxmlformats.org/drawingml/2006/main" noGrp="1"/>
          </p:cNvSpPr>
          <p:nvPr/>
        </p:nvSpPr>
        <p:spPr>
          <a:xfrm xmlns:a="http://schemas.openxmlformats.org/drawingml/2006/main">
            <a:off x="2381250" y="4524375"/>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2175" b="1">
                <a:solidFill>
                  <a:srgbClr val="0F766E"/>
                </a:solidFill>
                <a:latin typeface="Arial"/>
                <a:ea typeface="Arial"/>
                <a:cs typeface="Arial"/>
              </a:defRPr>
            </a:defPPr>
          </a:lstStyle>
          <a:p xmlns:a="http://schemas.openxmlformats.org/drawingml/2006/main">
            <a:pPr algn="ctr">
              <a:defRPr sz="2175" b="1">
                <a:solidFill>
                  <a:srgbClr val="0F766E"/>
                </a:solidFill>
                <a:latin typeface="Arial"/>
                <a:ea typeface="Arial"/>
                <a:cs typeface="Arial"/>
              </a:defRPr>
            </a:pPr>
            <a:r>
              <a:rPr sz="2175" b="1">
                <a:solidFill>
                  <a:srgbClr val="0F766E"/>
                </a:solidFill>
                <a:latin typeface="Arial"/>
                <a:ea typeface="Arial"/>
                <a:cs typeface="Arial"/>
              </a:rPr>
              <a:t>FastAPI /metrics  →  Prometheus  →  Grafana</a:t>
            </a:r>
          </a:p>
        </p:txBody>
      </p:sp>
      <p:sp>
        <p:nvSpPr>
          <p:cNvPr id="11" name="migration-note">
            <a:extLst xmlns:a="http://schemas.openxmlformats.org/drawingml/2006/main">
              <a:ext uri="{FF2B5EF4-FFF2-40B4-BE49-F238E27FC236}">
                <a16:creationId xmlns:a16="http://schemas.microsoft.com/office/drawing/2014/main" id="{3AB33F64-3018-44F9-A8E1-8AB824E2EFE1}"/>
              </a:ext>
            </a:extLst>
          </p:cNvPr>
          <p:cNvSpPr>
            <a:spLocks xmlns:a="http://schemas.openxmlformats.org/drawingml/2006/main" noGrp="1"/>
          </p:cNvSpPr>
          <p:nvPr/>
        </p:nvSpPr>
        <p:spPr>
          <a:xfrm xmlns:a="http://schemas.openxmlformats.org/drawingml/2006/main">
            <a:off x="1428750" y="5381625"/>
            <a:ext cx="933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650">
                <a:solidFill>
                  <a:srgbClr val="526174"/>
                </a:solidFill>
                <a:latin typeface="Arial"/>
                <a:ea typeface="Arial"/>
                <a:cs typeface="Arial"/>
              </a:defRPr>
            </a:defPPr>
          </a:lstStyle>
          <a:p xmlns:a="http://schemas.openxmlformats.org/drawingml/2006/main">
            <a:pPr algn="ctr">
              <a:defRPr sz="1650">
                <a:solidFill>
                  <a:srgbClr val="526174"/>
                </a:solidFill>
                <a:latin typeface="Arial"/>
                <a:ea typeface="Arial"/>
                <a:cs typeface="Arial"/>
              </a:defRPr>
            </a:pPr>
            <a:r>
              <a:rPr sz="1650">
                <a:solidFill>
                  <a:srgbClr val="526174"/>
                </a:solidFill>
                <a:latin typeface="Arial"/>
                <a:ea typeface="Arial"/>
                <a:cs typeface="Arial"/>
              </a:rPr>
              <a:t>Alembic manages the database schema; Docker Compose and Helm run the same application images.</a:t>
            </a:r>
          </a:p>
        </p:txBody>
      </p:sp>
    </p:spTree>
    <p:extLst>
      <p:ext uri="{BB962C8B-B14F-4D97-AF65-F5344CB8AC3E}">
        <p14:creationId xmlns:p14="http://schemas.microsoft.com/office/powerpoint/2010/main" val="2088149187"/>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180DB1C-ECEB-4DAC-AEC5-1C6CF098B23D}"/>
              </a:ext>
            </a:extLst>
          </p:cNvPr>
          <p:cNvSpPr>
            <a:spLocks xmlns:a="http://schemas.openxmlformats.org/drawingml/2006/main" noGrp="1"/>
          </p:cNvSpPr>
          <p:nvPr/>
        </p:nvSpPr>
        <p:spPr>
          <a:xfrm xmlns:a="http://schemas.openxmlformats.org/drawingml/2006/main">
            <a:off x="685800" y="4572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0B1F3A"/>
                </a:solidFill>
                <a:latin typeface="Arial"/>
                <a:ea typeface="Arial"/>
                <a:cs typeface="Arial"/>
              </a:defRPr>
            </a:defPPr>
          </a:lstStyle>
          <a:p xmlns:a="http://schemas.openxmlformats.org/drawingml/2006/main">
            <a:pPr algn="l">
              <a:defRPr sz="3450" b="1">
                <a:solidFill>
                  <a:srgbClr val="0B1F3A"/>
                </a:solidFill>
                <a:latin typeface="Arial"/>
                <a:ea typeface="Arial"/>
                <a:cs typeface="Arial"/>
              </a:defRPr>
            </a:pPr>
            <a:r>
              <a:rPr sz="3450" b="1">
                <a:solidFill>
                  <a:srgbClr val="0B1F3A"/>
                </a:solidFill>
                <a:latin typeface="Arial"/>
                <a:ea typeface="Arial"/>
                <a:cs typeface="Arial"/>
              </a:rPr>
              <a:t>Application and test evidence</a:t>
            </a:r>
          </a:p>
        </p:txBody>
      </p:sp>
      <p:pic>
        <p:nvPicPr>
          <p:cNvPr id="2" name="">
            <a:extLst xmlns:a="http://schemas.openxmlformats.org/drawingml/2006/main">
              <a:ext uri="{FF2B5EF4-FFF2-40B4-BE49-F238E27FC236}">
                <a16:creationId xmlns:a16="http://schemas.microsoft.com/office/drawing/2014/main" id="{27C15C7D-7B25-4154-A4C8-E8CF9FC80A18}"/>
              </a:ext>
            </a:extLst>
          </p:cNvPr>
          <p:cNvPicPr>
            <a:picLocks xmlns:a="http://schemas.openxmlformats.org/drawingml/2006/main" noChangeAspect="1"/>
          </p:cNvPicPr>
          <p:nvPr/>
        </p:nvPicPr>
        <p:blipFill>
          <a:blip xmlns:r="http://schemas.openxmlformats.org/officeDocument/2006/relationships" xmlns:a="http://schemas.openxmlformats.org/drawingml/2006/main" r:embed="R291410d6b50f4ca2"/>
          <a:stretch xmlns:a="http://schemas.openxmlformats.org/drawingml/2006/main"/>
        </p:blipFill>
        <p:spPr>
          <a:xfrm xmlns:a="http://schemas.openxmlformats.org/drawingml/2006/main">
            <a:off x="685800" y="1490795"/>
            <a:ext cx="6048375" cy="4200260"/>
          </a:xfrm>
          <a:prstGeom xmlns:a="http://schemas.openxmlformats.org/drawingml/2006/main" prst="rect">
            <a:avLst/>
          </a:prstGeom>
        </p:spPr>
      </p:pic>
      <p:sp>
        <p:nvSpPr>
          <p:cNvPr id="3" name="quality-count">
            <a:extLst xmlns:a="http://schemas.openxmlformats.org/drawingml/2006/main">
              <a:ext uri="{FF2B5EF4-FFF2-40B4-BE49-F238E27FC236}">
                <a16:creationId xmlns:a16="http://schemas.microsoft.com/office/drawing/2014/main" id="{35AA9E03-FA05-4B26-9016-CD8FA19EE214}"/>
              </a:ext>
            </a:extLst>
          </p:cNvPr>
          <p:cNvSpPr>
            <a:spLocks xmlns:a="http://schemas.openxmlformats.org/drawingml/2006/main" noGrp="1"/>
          </p:cNvSpPr>
          <p:nvPr/>
        </p:nvSpPr>
        <p:spPr>
          <a:xfrm xmlns:a="http://schemas.openxmlformats.org/drawingml/2006/main">
            <a:off x="7334250" y="1695450"/>
            <a:ext cx="3905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000" b="1">
                <a:solidFill>
                  <a:srgbClr val="1D4ED8"/>
                </a:solidFill>
                <a:latin typeface="Arial"/>
                <a:ea typeface="Arial"/>
                <a:cs typeface="Arial"/>
              </a:defRPr>
            </a:defPPr>
          </a:lstStyle>
          <a:p xmlns:a="http://schemas.openxmlformats.org/drawingml/2006/main">
            <a:pPr algn="l">
              <a:defRPr sz="3000" b="1">
                <a:solidFill>
                  <a:srgbClr val="1D4ED8"/>
                </a:solidFill>
                <a:latin typeface="Arial"/>
                <a:ea typeface="Arial"/>
                <a:cs typeface="Arial"/>
              </a:defRPr>
            </a:pPr>
            <a:r>
              <a:rPr sz="3000" b="1">
                <a:solidFill>
                  <a:srgbClr val="1D4ED8"/>
                </a:solidFill>
                <a:latin typeface="Arial"/>
                <a:ea typeface="Arial"/>
                <a:cs typeface="Arial"/>
              </a:rPr>
              <a:t>25 tests passed</a:t>
            </a:r>
          </a:p>
        </p:txBody>
      </p:sp>
      <p:sp>
        <p:nvSpPr>
          <p:cNvPr id="4" name="quality-details">
            <a:extLst xmlns:a="http://schemas.openxmlformats.org/drawingml/2006/main">
              <a:ext uri="{FF2B5EF4-FFF2-40B4-BE49-F238E27FC236}">
                <a16:creationId xmlns:a16="http://schemas.microsoft.com/office/drawing/2014/main" id="{827F1364-8350-41C1-8A14-236EAC35FAEB}"/>
              </a:ext>
            </a:extLst>
          </p:cNvPr>
          <p:cNvSpPr>
            <a:spLocks xmlns:a="http://schemas.openxmlformats.org/drawingml/2006/main" noGrp="1"/>
          </p:cNvSpPr>
          <p:nvPr/>
        </p:nvSpPr>
        <p:spPr>
          <a:xfrm xmlns:a="http://schemas.openxmlformats.org/drawingml/2006/main">
            <a:off x="7334250" y="2647950"/>
            <a:ext cx="4000500" cy="2143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a:solidFill>
                  <a:srgbClr val="142033"/>
                </a:solidFill>
                <a:latin typeface="Arial"/>
                <a:ea typeface="Arial"/>
                <a:cs typeface="Arial"/>
              </a:defRPr>
            </a:defPPr>
          </a:lstStyle>
          <a:p xmlns:a="http://schemas.openxmlformats.org/drawingml/2006/main">
            <a:pPr algn="l">
              <a:defRPr sz="1800">
                <a:solidFill>
                  <a:srgbClr val="142033"/>
                </a:solidFill>
                <a:latin typeface="Arial"/>
                <a:ea typeface="Arial"/>
                <a:cs typeface="Arial"/>
              </a:defRPr>
            </a:pPr>
            <a:r>
              <a:rPr sz="1800">
                <a:solidFill>
                  <a:srgbClr val="142033"/>
                </a:solidFill>
                <a:latin typeface="Arial"/>
                <a:ea typeface="Arial"/>
                <a:cs typeface="Arial"/>
              </a:rPr>
              <a:t>FastAPI provides ticket create, list, read, update, and delete routes. PostgreSQL stores runtime data; tests use an isolated temporary database. The backend exposes Prometheus metrics at /metrics.</a:t>
            </a:r>
          </a:p>
        </p:txBody>
      </p:sp>
      <p:sp>
        <p:nvSpPr>
          <p:cNvPr id="5" name="quality-capture-note">
            <a:extLst xmlns:a="http://schemas.openxmlformats.org/drawingml/2006/main">
              <a:ext uri="{FF2B5EF4-FFF2-40B4-BE49-F238E27FC236}">
                <a16:creationId xmlns:a16="http://schemas.microsoft.com/office/drawing/2014/main" id="{387341A9-151A-4D80-A63E-F48255D3D4E5}"/>
              </a:ext>
            </a:extLst>
          </p:cNvPr>
          <p:cNvSpPr>
            <a:spLocks xmlns:a="http://schemas.openxmlformats.org/drawingml/2006/main" noGrp="1"/>
          </p:cNvSpPr>
          <p:nvPr/>
        </p:nvSpPr>
        <p:spPr>
          <a:xfrm xmlns:a="http://schemas.openxmlformats.org/drawingml/2006/main">
            <a:off x="7334250" y="5143500"/>
            <a:ext cx="4000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C2410C"/>
                </a:solidFill>
                <a:latin typeface="Arial"/>
                <a:ea typeface="Arial"/>
                <a:cs typeface="Arial"/>
              </a:defRPr>
            </a:defPPr>
          </a:lstStyle>
          <a:p xmlns:a="http://schemas.openxmlformats.org/drawingml/2006/main">
            <a:pPr algn="l">
              <a:defRPr sz="1650" b="1">
                <a:solidFill>
                  <a:srgbClr val="C2410C"/>
                </a:solidFill>
                <a:latin typeface="Arial"/>
                <a:ea typeface="Arial"/>
                <a:cs typeface="Arial"/>
              </a:defRPr>
            </a:pPr>
            <a:r>
              <a:rPr sz="1650" b="1">
                <a:solidFill>
                  <a:srgbClr val="C2410C"/>
                </a:solidFill>
                <a:latin typeface="Arial"/>
                <a:ea typeface="Arial"/>
                <a:cs typeface="Arial"/>
              </a:rPr>
              <a:t>Capture a terminal view of pytest -v for the submission evidence.</a:t>
            </a:r>
          </a:p>
        </p:txBody>
      </p:sp>
    </p:spTree>
    <p:extLst>
      <p:ext uri="{BB962C8B-B14F-4D97-AF65-F5344CB8AC3E}">
        <p14:creationId xmlns:p14="http://schemas.microsoft.com/office/powerpoint/2010/main" val="3518080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8B3B0DF-53C5-4106-A68F-B12469C71407}"/>
              </a:ext>
            </a:extLst>
          </p:cNvPr>
          <p:cNvSpPr>
            <a:spLocks xmlns:a="http://schemas.openxmlformats.org/drawingml/2006/main" noGrp="1"/>
          </p:cNvSpPr>
          <p:nvPr/>
        </p:nvSpPr>
        <p:spPr>
          <a:xfrm xmlns:a="http://schemas.openxmlformats.org/drawingml/2006/main">
            <a:off x="685800" y="4572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0B1F3A"/>
                </a:solidFill>
                <a:latin typeface="Arial"/>
                <a:ea typeface="Arial"/>
                <a:cs typeface="Arial"/>
              </a:defRPr>
            </a:defPPr>
          </a:lstStyle>
          <a:p xmlns:a="http://schemas.openxmlformats.org/drawingml/2006/main">
            <a:pPr algn="l">
              <a:defRPr sz="3450" b="1">
                <a:solidFill>
                  <a:srgbClr val="0B1F3A"/>
                </a:solidFill>
                <a:latin typeface="Arial"/>
                <a:ea typeface="Arial"/>
                <a:cs typeface="Arial"/>
              </a:defRPr>
            </a:pPr>
            <a:r>
              <a:rPr sz="3450" b="1">
                <a:solidFill>
                  <a:srgbClr val="0B1F3A"/>
                </a:solidFill>
                <a:latin typeface="Arial"/>
                <a:ea typeface="Arial"/>
                <a:cs typeface="Arial"/>
              </a:rPr>
              <a:t>Linux and Docker run locally under WSL 2</a:t>
            </a:r>
          </a:p>
        </p:txBody>
      </p:sp>
      <p:sp>
        <p:nvSpPr>
          <p:cNvPr id="2" name="linux-summary">
            <a:extLst xmlns:a="http://schemas.openxmlformats.org/drawingml/2006/main">
              <a:ext uri="{FF2B5EF4-FFF2-40B4-BE49-F238E27FC236}">
                <a16:creationId xmlns:a16="http://schemas.microsoft.com/office/drawing/2014/main" id="{BC20912C-5B56-4B9D-8C75-6A6E0994C4AF}"/>
              </a:ext>
            </a:extLst>
          </p:cNvPr>
          <p:cNvSpPr>
            <a:spLocks xmlns:a="http://schemas.openxmlformats.org/drawingml/2006/main" noGrp="1"/>
          </p:cNvSpPr>
          <p:nvPr/>
        </p:nvSpPr>
        <p:spPr>
          <a:xfrm xmlns:a="http://schemas.openxmlformats.org/drawingml/2006/main">
            <a:off x="781050" y="1581150"/>
            <a:ext cx="10334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42033"/>
                </a:solidFill>
                <a:latin typeface="Arial"/>
                <a:ea typeface="Arial"/>
                <a:cs typeface="Arial"/>
              </a:defRPr>
            </a:defPPr>
          </a:lstStyle>
          <a:p xmlns:a="http://schemas.openxmlformats.org/drawingml/2006/main">
            <a:pPr algn="l">
              <a:defRPr sz="2325" b="1">
                <a:solidFill>
                  <a:srgbClr val="142033"/>
                </a:solidFill>
                <a:latin typeface="Arial"/>
                <a:ea typeface="Arial"/>
                <a:cs typeface="Arial"/>
              </a:defRPr>
            </a:pPr>
            <a:r>
              <a:rPr sz="2325" b="1">
                <a:solidFill>
                  <a:srgbClr val="142033"/>
                </a:solidFill>
                <a:latin typeface="Arial"/>
                <a:ea typeface="Arial"/>
                <a:cs typeface="Arial"/>
              </a:rPr>
              <a:t>Ubuntu 24.04 in WSL 2 hosts Docker Engine, Compose, and Minikube.</a:t>
            </a:r>
          </a:p>
        </p:txBody>
      </p:sp>
      <p:sp>
        <p:nvSpPr>
          <p:cNvPr id="3" name="docker-facts">
            <a:extLst xmlns:a="http://schemas.openxmlformats.org/drawingml/2006/main">
              <a:ext uri="{FF2B5EF4-FFF2-40B4-BE49-F238E27FC236}">
                <a16:creationId xmlns:a16="http://schemas.microsoft.com/office/drawing/2014/main" id="{B046478C-3BED-417D-9F07-F648B25C0273}"/>
              </a:ext>
            </a:extLst>
          </p:cNvPr>
          <p:cNvSpPr>
            <a:spLocks xmlns:a="http://schemas.openxmlformats.org/drawingml/2006/main" noGrp="1"/>
          </p:cNvSpPr>
          <p:nvPr/>
        </p:nvSpPr>
        <p:spPr>
          <a:xfrm xmlns:a="http://schemas.openxmlformats.org/drawingml/2006/main">
            <a:off x="781050" y="2714625"/>
            <a:ext cx="50482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a:solidFill>
                  <a:srgbClr val="526174"/>
                </a:solidFill>
                <a:latin typeface="Arial"/>
                <a:ea typeface="Arial"/>
                <a:cs typeface="Arial"/>
              </a:defRPr>
            </a:defPPr>
          </a:lstStyle>
          <a:p xmlns:a="http://schemas.openxmlformats.org/drawingml/2006/main">
            <a:pPr algn="l">
              <a:defRPr sz="1875">
                <a:solidFill>
                  <a:srgbClr val="526174"/>
                </a:solidFill>
                <a:latin typeface="Arial"/>
                <a:ea typeface="Arial"/>
                <a:cs typeface="Arial"/>
              </a:defRPr>
            </a:pPr>
            <a:r>
              <a:rPr sz="1875">
                <a:solidFill>
                  <a:srgbClr val="526174"/>
                </a:solidFill>
                <a:latin typeface="Arial"/>
                <a:ea typeface="Arial"/>
                <a:cs typeface="Arial"/>
              </a:rPr>
              <a:t>Docker Compose builds and runs three services: frontend, FastAPI backend, and PostgreSQL. Health checks hold the startup order so the API migrates only after the database is ready. Both application images run as non-root users.</a:t>
            </a:r>
          </a:p>
        </p:txBody>
      </p:sp>
      <p:sp>
        <p:nvSpPr>
          <p:cNvPr id="4" name="linux-completion">
            <a:extLst xmlns:a="http://schemas.openxmlformats.org/drawingml/2006/main">
              <a:ext uri="{FF2B5EF4-FFF2-40B4-BE49-F238E27FC236}">
                <a16:creationId xmlns:a16="http://schemas.microsoft.com/office/drawing/2014/main" id="{49EFBE5B-D1F8-4715-A237-4AEE4E64E9DC}"/>
              </a:ext>
            </a:extLst>
          </p:cNvPr>
          <p:cNvSpPr>
            <a:spLocks xmlns:a="http://schemas.openxmlformats.org/drawingml/2006/main" noGrp="1"/>
          </p:cNvSpPr>
          <p:nvPr/>
        </p:nvSpPr>
        <p:spPr>
          <a:xfrm xmlns:a="http://schemas.openxmlformats.org/drawingml/2006/main">
            <a:off x="6572250" y="2714625"/>
            <a:ext cx="4762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a:solidFill>
                  <a:srgbClr val="526174"/>
                </a:solidFill>
                <a:latin typeface="Arial"/>
                <a:ea typeface="Arial"/>
                <a:cs typeface="Arial"/>
              </a:defRPr>
            </a:defPPr>
          </a:lstStyle>
          <a:p xmlns:a="http://schemas.openxmlformats.org/drawingml/2006/main">
            <a:pPr algn="l">
              <a:defRPr sz="1875">
                <a:solidFill>
                  <a:srgbClr val="526174"/>
                </a:solidFill>
                <a:latin typeface="Arial"/>
                <a:ea typeface="Arial"/>
                <a:cs typeface="Arial"/>
              </a:defRPr>
            </a:pPr>
            <a:r>
              <a:rPr sz="1875">
                <a:solidFill>
                  <a:srgbClr val="526174"/>
                </a:solidFill>
                <a:latin typeface="Arial"/>
                <a:ea typeface="Arial"/>
                <a:cs typeface="Arial"/>
              </a:rPr>
              <a:t>The stack was rebuilt and validated from the Linux environment. The Windows Docker Desktop pipe was not used in this run.</a:t>
            </a:r>
          </a:p>
        </p:txBody>
      </p:sp>
      <p:sp>
        <p:nvSpPr>
          <p:cNvPr id="5" name="compose-screenshot">
            <a:extLst xmlns:a="http://schemas.openxmlformats.org/drawingml/2006/main">
              <a:ext uri="{FF2B5EF4-FFF2-40B4-BE49-F238E27FC236}">
                <a16:creationId xmlns:a16="http://schemas.microsoft.com/office/drawing/2014/main" id="{D06B5AC2-8B99-41AF-94CA-80606FD093E8}"/>
              </a:ext>
            </a:extLst>
          </p:cNvPr>
          <p:cNvSpPr>
            <a:spLocks xmlns:a="http://schemas.openxmlformats.org/drawingml/2006/main" noGrp="1"/>
          </p:cNvSpPr>
          <p:nvPr/>
        </p:nvSpPr>
        <p:spPr>
          <a:xfrm xmlns:a="http://schemas.openxmlformats.org/drawingml/2006/main">
            <a:off x="6572250" y="4667250"/>
            <a:ext cx="4762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650" b="1">
                <a:solidFill>
                  <a:srgbClr val="C2410C"/>
                </a:solidFill>
                <a:latin typeface="Arial"/>
                <a:ea typeface="Arial"/>
                <a:cs typeface="Arial"/>
              </a:defRPr>
            </a:defPPr>
          </a:lstStyle>
          <a:p xmlns:a="http://schemas.openxmlformats.org/drawingml/2006/main">
            <a:pPr algn="l">
              <a:defRPr sz="1650" b="1">
                <a:solidFill>
                  <a:srgbClr val="C2410C"/>
                </a:solidFill>
                <a:latin typeface="Arial"/>
                <a:ea typeface="Arial"/>
                <a:cs typeface="Arial"/>
              </a:defRPr>
            </a:pPr>
            <a:r>
              <a:rPr sz="1650" b="1">
                <a:solidFill>
                  <a:srgbClr val="C2410C"/>
                </a:solidFill>
                <a:latin typeface="Arial"/>
                <a:ea typeface="Arial"/>
                <a:cs typeface="Arial"/>
              </a:rPr>
              <a:t>Browser evidence: screenshot 14</a:t>
            </a:r>
          </a:p>
          <a:p xmlns:a="http://schemas.openxmlformats.org/drawingml/2006/main">
            <a:pPr algn="l">
              <a:defRPr sz="1650" b="1">
                <a:solidFill>
                  <a:srgbClr val="C2410C"/>
                </a:solidFill>
                <a:latin typeface="Arial"/>
                <a:ea typeface="Arial"/>
                <a:cs typeface="Arial"/>
              </a:defRPr>
            </a:pPr>
            <a:r>
              <a:rPr sz="1650" b="1">
                <a:solidFill>
                  <a:srgbClr val="C2410C"/>
                </a:solidFill>
                <a:latin typeface="Arial"/>
                <a:ea typeface="Arial"/>
                <a:cs typeface="Arial"/>
              </a:rPr>
              <a:t>Terminal capture of `docker compose up --build` is still required.</a:t>
            </a:r>
          </a:p>
        </p:txBody>
      </p:sp>
    </p:spTree>
    <p:extLst>
      <p:ext uri="{BB962C8B-B14F-4D97-AF65-F5344CB8AC3E}">
        <p14:creationId xmlns:p14="http://schemas.microsoft.com/office/powerpoint/2010/main" val="1361641842"/>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D1E888A3-D5C5-405A-8994-7CC1D5D5C239}"/>
              </a:ext>
            </a:extLst>
          </p:cNvPr>
          <p:cNvSpPr>
            <a:spLocks xmlns:a="http://schemas.openxmlformats.org/drawingml/2006/main" noGrp="1"/>
          </p:cNvSpPr>
          <p:nvPr/>
        </p:nvSpPr>
        <p:spPr>
          <a:xfrm xmlns:a="http://schemas.openxmlformats.org/drawingml/2006/main">
            <a:off x="685800" y="4572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0B1F3A"/>
                </a:solidFill>
                <a:latin typeface="Arial"/>
                <a:ea typeface="Arial"/>
                <a:cs typeface="Arial"/>
              </a:defRPr>
            </a:defPPr>
          </a:lstStyle>
          <a:p xmlns:a="http://schemas.openxmlformats.org/drawingml/2006/main">
            <a:pPr algn="l">
              <a:defRPr sz="3450" b="1">
                <a:solidFill>
                  <a:srgbClr val="0B1F3A"/>
                </a:solidFill>
                <a:latin typeface="Arial"/>
                <a:ea typeface="Arial"/>
                <a:cs typeface="Arial"/>
              </a:defRPr>
            </a:pPr>
            <a:r>
              <a:rPr sz="3450" b="1">
                <a:solidFill>
                  <a:srgbClr val="0B1F3A"/>
                </a:solidFill>
                <a:latin typeface="Arial"/>
                <a:ea typeface="Arial"/>
                <a:cs typeface="Arial"/>
              </a:rPr>
              <a:t>Kubernetes deployment with Helm</a:t>
            </a:r>
          </a:p>
        </p:txBody>
      </p:sp>
      <p:sp>
        <p:nvSpPr>
          <p:cNvPr id="2" name="k8s-summary">
            <a:extLst xmlns:a="http://schemas.openxmlformats.org/drawingml/2006/main">
              <a:ext uri="{FF2B5EF4-FFF2-40B4-BE49-F238E27FC236}">
                <a16:creationId xmlns:a16="http://schemas.microsoft.com/office/drawing/2014/main" id="{1C859776-CAB0-4472-BBB8-614B98FAAEC8}"/>
              </a:ext>
            </a:extLst>
          </p:cNvPr>
          <p:cNvSpPr>
            <a:spLocks xmlns:a="http://schemas.openxmlformats.org/drawingml/2006/main" noGrp="1"/>
          </p:cNvSpPr>
          <p:nvPr/>
        </p:nvSpPr>
        <p:spPr>
          <a:xfrm xmlns:a="http://schemas.openxmlformats.org/drawingml/2006/main">
            <a:off x="685800" y="1428750"/>
            <a:ext cx="4524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325" b="1">
                <a:solidFill>
                  <a:srgbClr val="142033"/>
                </a:solidFill>
                <a:latin typeface="Arial"/>
                <a:ea typeface="Arial"/>
                <a:cs typeface="Arial"/>
              </a:defRPr>
            </a:defPPr>
          </a:lstStyle>
          <a:p xmlns:a="http://schemas.openxmlformats.org/drawingml/2006/main">
            <a:pPr algn="l">
              <a:defRPr sz="2325" b="1">
                <a:solidFill>
                  <a:srgbClr val="142033"/>
                </a:solidFill>
                <a:latin typeface="Arial"/>
                <a:ea typeface="Arial"/>
                <a:cs typeface="Arial"/>
              </a:defRPr>
            </a:pPr>
            <a:r>
              <a:rPr sz="2325" b="1">
                <a:solidFill>
                  <a:srgbClr val="142033"/>
                </a:solidFill>
                <a:latin typeface="Arial"/>
                <a:ea typeface="Arial"/>
                <a:cs typeface="Arial"/>
              </a:rPr>
              <a:t>The CampusFix Helm release runs on local Minikube.</a:t>
            </a:r>
          </a:p>
        </p:txBody>
      </p:sp>
      <p:sp>
        <p:nvSpPr>
          <p:cNvPr id="3" name="k8s-details">
            <a:extLst xmlns:a="http://schemas.openxmlformats.org/drawingml/2006/main">
              <a:ext uri="{FF2B5EF4-FFF2-40B4-BE49-F238E27FC236}">
                <a16:creationId xmlns:a16="http://schemas.microsoft.com/office/drawing/2014/main" id="{C2175F57-2BE8-41F1-BF34-656251AF1548}"/>
              </a:ext>
            </a:extLst>
          </p:cNvPr>
          <p:cNvSpPr>
            <a:spLocks xmlns:a="http://schemas.openxmlformats.org/drawingml/2006/main" noGrp="1"/>
          </p:cNvSpPr>
          <p:nvPr/>
        </p:nvSpPr>
        <p:spPr>
          <a:xfrm xmlns:a="http://schemas.openxmlformats.org/drawingml/2006/main">
            <a:off x="685800" y="2400300"/>
            <a:ext cx="4333875" cy="2171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a:solidFill>
                  <a:srgbClr val="526174"/>
                </a:solidFill>
                <a:latin typeface="Arial"/>
                <a:ea typeface="Arial"/>
                <a:cs typeface="Arial"/>
              </a:defRPr>
            </a:defPPr>
          </a:lstStyle>
          <a:p xmlns:a="http://schemas.openxmlformats.org/drawingml/2006/main">
            <a:pPr algn="l">
              <a:defRPr sz="1875">
                <a:solidFill>
                  <a:srgbClr val="526174"/>
                </a:solidFill>
                <a:latin typeface="Arial"/>
                <a:ea typeface="Arial"/>
                <a:cs typeface="Arial"/>
              </a:defRPr>
            </a:pPr>
            <a:r>
              <a:rPr sz="1875">
                <a:solidFill>
                  <a:srgbClr val="526174"/>
                </a:solidFill>
                <a:latin typeface="Arial"/>
                <a:ea typeface="Arial"/>
                <a:cs typeface="Arial"/>
              </a:rPr>
              <a:t>Two backend replicas</a:t>
            </a:r>
          </a:p>
          <a:p xmlns:a="http://schemas.openxmlformats.org/drawingml/2006/main">
            <a:pPr algn="l">
              <a:defRPr sz="1875">
                <a:solidFill>
                  <a:srgbClr val="526174"/>
                </a:solidFill>
                <a:latin typeface="Arial"/>
                <a:ea typeface="Arial"/>
                <a:cs typeface="Arial"/>
              </a:defRPr>
            </a:pPr>
            <a:r>
              <a:rPr sz="1875">
                <a:solidFill>
                  <a:srgbClr val="526174"/>
                </a:solidFill>
                <a:latin typeface="Arial"/>
                <a:ea typeface="Arial"/>
                <a:cs typeface="Arial"/>
              </a:rPr>
              <a:t>Two frontend replicas</a:t>
            </a:r>
          </a:p>
          <a:p xmlns:a="http://schemas.openxmlformats.org/drawingml/2006/main">
            <a:pPr algn="l">
              <a:defRPr sz="1875">
                <a:solidFill>
                  <a:srgbClr val="526174"/>
                </a:solidFill>
                <a:latin typeface="Arial"/>
                <a:ea typeface="Arial"/>
                <a:cs typeface="Arial"/>
              </a:defRPr>
            </a:pPr>
            <a:r>
              <a:rPr sz="1875">
                <a:solidFill>
                  <a:srgbClr val="526174"/>
                </a:solidFill>
                <a:latin typeface="Arial"/>
                <a:ea typeface="Arial"/>
                <a:cs typeface="Arial"/>
              </a:rPr>
              <a:t>One PostgreSQL pod</a:t>
            </a:r>
          </a:p>
          <a:p xmlns:a="http://schemas.openxmlformats.org/drawingml/2006/main">
            <a:pPr algn="l">
              <a:defRPr sz="1875">
                <a:solidFill>
                  <a:srgbClr val="526174"/>
                </a:solidFill>
                <a:latin typeface="Arial"/>
                <a:ea typeface="Arial"/>
                <a:cs typeface="Arial"/>
              </a:defRPr>
            </a:pPr>
            <a:r>
              <a:rPr sz="1875">
                <a:solidFill>
                  <a:srgbClr val="526174"/>
                </a:solidFill>
                <a:latin typeface="Arial"/>
                <a:ea typeface="Arial"/>
                <a:cs typeface="Arial"/>
              </a:rPr>
              <a:t>Ingress routes the browser and API traffic</a:t>
            </a:r>
          </a:p>
        </p:txBody>
      </p:sp>
      <p:sp>
        <p:nvSpPr>
          <p:cNvPr id="4" name="k8s-capture">
            <a:extLst xmlns:a="http://schemas.openxmlformats.org/drawingml/2006/main">
              <a:ext uri="{FF2B5EF4-FFF2-40B4-BE49-F238E27FC236}">
                <a16:creationId xmlns:a16="http://schemas.microsoft.com/office/drawing/2014/main" id="{E6B4547C-F31C-41D5-BBE0-FA77F54AA741}"/>
              </a:ext>
            </a:extLst>
          </p:cNvPr>
          <p:cNvSpPr>
            <a:spLocks xmlns:a="http://schemas.openxmlformats.org/drawingml/2006/main" noGrp="1"/>
          </p:cNvSpPr>
          <p:nvPr/>
        </p:nvSpPr>
        <p:spPr>
          <a:xfrm xmlns:a="http://schemas.openxmlformats.org/drawingml/2006/main">
            <a:off x="685800" y="4972050"/>
            <a:ext cx="4429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75" b="1">
                <a:solidFill>
                  <a:srgbClr val="C2410C"/>
                </a:solidFill>
                <a:latin typeface="Arial"/>
                <a:ea typeface="Arial"/>
                <a:cs typeface="Arial"/>
              </a:defRPr>
            </a:defPPr>
          </a:lstStyle>
          <a:p xmlns:a="http://schemas.openxmlformats.org/drawingml/2006/main">
            <a:pPr algn="l">
              <a:defRPr sz="1575" b="1">
                <a:solidFill>
                  <a:srgbClr val="C2410C"/>
                </a:solidFill>
                <a:latin typeface="Arial"/>
                <a:ea typeface="Arial"/>
                <a:cs typeface="Arial"/>
              </a:defRPr>
            </a:pPr>
            <a:r>
              <a:rPr sz="1575" b="1">
                <a:solidFill>
                  <a:srgbClr val="C2410C"/>
                </a:solidFill>
                <a:latin typeface="Arial"/>
                <a:ea typeface="Arial"/>
                <a:cs typeface="Arial"/>
              </a:rPr>
              <a:t>Current capture: app reached through Ingress at localhost:8081. Terminal screenshots of pods, services, and Helm release are still required.</a:t>
            </a:r>
          </a:p>
        </p:txBody>
      </p:sp>
      <p:pic>
        <p:nvPicPr>
          <p:cNvPr id="5" name="">
            <a:extLst xmlns:a="http://schemas.openxmlformats.org/drawingml/2006/main">
              <a:ext uri="{FF2B5EF4-FFF2-40B4-BE49-F238E27FC236}">
                <a16:creationId xmlns:a16="http://schemas.microsoft.com/office/drawing/2014/main" id="{3495ED1C-24EE-45BF-8DEF-8CEF4B270550}"/>
              </a:ext>
            </a:extLst>
          </p:cNvPr>
          <p:cNvPicPr>
            <a:picLocks xmlns:a="http://schemas.openxmlformats.org/drawingml/2006/main" noChangeAspect="1"/>
          </p:cNvPicPr>
          <p:nvPr/>
        </p:nvPicPr>
        <p:blipFill>
          <a:blip xmlns:r="http://schemas.openxmlformats.org/officeDocument/2006/relationships" xmlns:a="http://schemas.openxmlformats.org/drawingml/2006/main" r:embed="R19054a1d4d064493"/>
          <a:stretch xmlns:a="http://schemas.openxmlformats.org/drawingml/2006/main"/>
        </p:blipFill>
        <p:spPr>
          <a:xfrm xmlns:a="http://schemas.openxmlformats.org/drawingml/2006/main">
            <a:off x="5410200" y="1498071"/>
            <a:ext cx="6096000" cy="4233333"/>
          </a:xfrm>
          <a:prstGeom xmlns:a="http://schemas.openxmlformats.org/drawingml/2006/main" prst="rect">
            <a:avLst/>
          </a:prstGeom>
        </p:spPr>
      </p:pic>
    </p:spTree>
    <p:extLst>
      <p:ext uri="{BB962C8B-B14F-4D97-AF65-F5344CB8AC3E}">
        <p14:creationId xmlns:p14="http://schemas.microsoft.com/office/powerpoint/2010/main" val="20588957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35C925D-0DDB-420F-A784-D79CCDB28989}"/>
              </a:ext>
            </a:extLst>
          </p:cNvPr>
          <p:cNvSpPr>
            <a:spLocks xmlns:a="http://schemas.openxmlformats.org/drawingml/2006/main" noGrp="1"/>
          </p:cNvSpPr>
          <p:nvPr/>
        </p:nvSpPr>
        <p:spPr>
          <a:xfrm xmlns:a="http://schemas.openxmlformats.org/drawingml/2006/main">
            <a:off x="685800" y="4572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0B1F3A"/>
                </a:solidFill>
                <a:latin typeface="Arial"/>
                <a:ea typeface="Arial"/>
                <a:cs typeface="Arial"/>
              </a:defRPr>
            </a:defPPr>
          </a:lstStyle>
          <a:p xmlns:a="http://schemas.openxmlformats.org/drawingml/2006/main">
            <a:pPr algn="l">
              <a:defRPr sz="3450" b="1">
                <a:solidFill>
                  <a:srgbClr val="0B1F3A"/>
                </a:solidFill>
                <a:latin typeface="Arial"/>
                <a:ea typeface="Arial"/>
                <a:cs typeface="Arial"/>
              </a:defRPr>
            </a:pPr>
            <a:r>
              <a:rPr sz="3450" b="1">
                <a:solidFill>
                  <a:srgbClr val="0B1F3A"/>
                </a:solidFill>
                <a:latin typeface="Arial"/>
                <a:ea typeface="Arial"/>
                <a:cs typeface="Arial"/>
              </a:rPr>
              <a:t>Prometheus and Grafana show live metrics</a:t>
            </a:r>
          </a:p>
        </p:txBody>
      </p:sp>
      <p:pic>
        <p:nvPicPr>
          <p:cNvPr id="2" name="">
            <a:extLst xmlns:a="http://schemas.openxmlformats.org/drawingml/2006/main">
              <a:ext uri="{FF2B5EF4-FFF2-40B4-BE49-F238E27FC236}">
                <a16:creationId xmlns:a16="http://schemas.microsoft.com/office/drawing/2014/main" id="{A7A04C52-C605-4D75-896B-44CCFF69F209}"/>
              </a:ext>
            </a:extLst>
          </p:cNvPr>
          <p:cNvPicPr>
            <a:picLocks xmlns:a="http://schemas.openxmlformats.org/drawingml/2006/main" noChangeAspect="1"/>
          </p:cNvPicPr>
          <p:nvPr/>
        </p:nvPicPr>
        <p:blipFill>
          <a:blip xmlns:r="http://schemas.openxmlformats.org/officeDocument/2006/relationships" xmlns:a="http://schemas.openxmlformats.org/drawingml/2006/main" r:embed="R81a245b1a7b84f0f"/>
          <a:stretch xmlns:a="http://schemas.openxmlformats.org/drawingml/2006/main"/>
        </p:blipFill>
        <p:spPr>
          <a:xfrm xmlns:a="http://schemas.openxmlformats.org/drawingml/2006/main">
            <a:off x="916132" y="1428750"/>
            <a:ext cx="4682836" cy="321945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E15CD4C6-CF24-48FC-AA41-E59B362D1A35}"/>
              </a:ext>
            </a:extLst>
          </p:cNvPr>
          <p:cNvPicPr>
            <a:picLocks xmlns:a="http://schemas.openxmlformats.org/drawingml/2006/main" noChangeAspect="1"/>
          </p:cNvPicPr>
          <p:nvPr/>
        </p:nvPicPr>
        <p:blipFill>
          <a:blip xmlns:r="http://schemas.openxmlformats.org/officeDocument/2006/relationships" xmlns:a="http://schemas.openxmlformats.org/drawingml/2006/main" r:embed="R001a235cf1cc402a"/>
          <a:stretch xmlns:a="http://schemas.openxmlformats.org/drawingml/2006/main"/>
        </p:blipFill>
        <p:spPr>
          <a:xfrm xmlns:a="http://schemas.openxmlformats.org/drawingml/2006/main">
            <a:off x="6593032" y="1428750"/>
            <a:ext cx="4682836" cy="3219450"/>
          </a:xfrm>
          <a:prstGeom xmlns:a="http://schemas.openxmlformats.org/drawingml/2006/main" prst="rect">
            <a:avLst/>
          </a:prstGeom>
        </p:spPr>
      </p:pic>
      <p:sp>
        <p:nvSpPr>
          <p:cNvPr id="4" name="observability-caption">
            <a:extLst xmlns:a="http://schemas.openxmlformats.org/drawingml/2006/main">
              <a:ext uri="{FF2B5EF4-FFF2-40B4-BE49-F238E27FC236}">
                <a16:creationId xmlns:a16="http://schemas.microsoft.com/office/drawing/2014/main" id="{F3B8F968-92C5-4602-B157-1833878ACCBF}"/>
              </a:ext>
            </a:extLst>
          </p:cNvPr>
          <p:cNvSpPr>
            <a:spLocks xmlns:a="http://schemas.openxmlformats.org/drawingml/2006/main" noGrp="1"/>
          </p:cNvSpPr>
          <p:nvPr/>
        </p:nvSpPr>
        <p:spPr>
          <a:xfrm xmlns:a="http://schemas.openxmlformats.org/drawingml/2006/main">
            <a:off x="971550" y="5219700"/>
            <a:ext cx="1019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ctr">
              <a:defRPr sz="1800" b="1">
                <a:solidFill>
                  <a:srgbClr val="142033"/>
                </a:solidFill>
                <a:latin typeface="Arial"/>
                <a:ea typeface="Arial"/>
                <a:cs typeface="Arial"/>
              </a:defRPr>
            </a:defPPr>
          </a:lstStyle>
          <a:p xmlns:a="http://schemas.openxmlformats.org/drawingml/2006/main">
            <a:pPr algn="ctr">
              <a:defRPr sz="1800" b="1">
                <a:solidFill>
                  <a:srgbClr val="142033"/>
                </a:solidFill>
                <a:latin typeface="Arial"/>
                <a:ea typeface="Arial"/>
                <a:cs typeface="Arial"/>
              </a:defRPr>
            </a:pPr>
            <a:r>
              <a:rPr sz="1800" b="1">
                <a:solidFill>
                  <a:srgbClr val="142033"/>
                </a:solidFill>
                <a:latin typeface="Arial"/>
                <a:ea typeface="Arial"/>
                <a:cs typeface="Arial"/>
              </a:rPr>
              <a:t>Prometheus: 2 / 2 backend targets UP. Grafana: five populated panels for request count, ready pods, route rate, p95 latency, and response status.</a:t>
            </a:r>
          </a:p>
        </p:txBody>
      </p:sp>
    </p:spTree>
    <p:extLst>
      <p:ext uri="{BB962C8B-B14F-4D97-AF65-F5344CB8AC3E}">
        <p14:creationId xmlns:p14="http://schemas.microsoft.com/office/powerpoint/2010/main" val="552705046"/>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206E4D2-3208-46A0-A165-B60F1BBB4BBD}"/>
              </a:ext>
            </a:extLst>
          </p:cNvPr>
          <p:cNvSpPr>
            <a:spLocks xmlns:a="http://schemas.openxmlformats.org/drawingml/2006/main" noGrp="1"/>
          </p:cNvSpPr>
          <p:nvPr/>
        </p:nvSpPr>
        <p:spPr>
          <a:xfrm xmlns:a="http://schemas.openxmlformats.org/drawingml/2006/main">
            <a:off x="685800" y="4572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450" b="1">
                <a:solidFill>
                  <a:srgbClr val="0B1F3A"/>
                </a:solidFill>
                <a:latin typeface="Arial"/>
                <a:ea typeface="Arial"/>
                <a:cs typeface="Arial"/>
              </a:defRPr>
            </a:defPPr>
          </a:lstStyle>
          <a:p xmlns:a="http://schemas.openxmlformats.org/drawingml/2006/main">
            <a:pPr algn="l">
              <a:defRPr sz="3450" b="1">
                <a:solidFill>
                  <a:srgbClr val="0B1F3A"/>
                </a:solidFill>
                <a:latin typeface="Arial"/>
                <a:ea typeface="Arial"/>
                <a:cs typeface="Arial"/>
              </a:defRPr>
            </a:pPr>
            <a:r>
              <a:rPr sz="3450" b="1">
                <a:solidFill>
                  <a:srgbClr val="0B1F3A"/>
                </a:solidFill>
                <a:latin typeface="Arial"/>
                <a:ea typeface="Arial"/>
                <a:cs typeface="Arial"/>
              </a:rPr>
              <a:t>CI and security status</a:t>
            </a:r>
          </a:p>
        </p:txBody>
      </p:sp>
      <p:sp>
        <p:nvSpPr>
          <p:cNvPr id="2" name="pipeline-flow">
            <a:extLst xmlns:a="http://schemas.openxmlformats.org/drawingml/2006/main">
              <a:ext uri="{FF2B5EF4-FFF2-40B4-BE49-F238E27FC236}">
                <a16:creationId xmlns:a16="http://schemas.microsoft.com/office/drawing/2014/main" id="{DA4512F0-5B54-441B-A842-56281AD2C4AE}"/>
              </a:ext>
            </a:extLst>
          </p:cNvPr>
          <p:cNvSpPr>
            <a:spLocks xmlns:a="http://schemas.openxmlformats.org/drawingml/2006/main" noGrp="1"/>
          </p:cNvSpPr>
          <p:nvPr/>
        </p:nvSpPr>
        <p:spPr>
          <a:xfrm xmlns:a="http://schemas.openxmlformats.org/drawingml/2006/main">
            <a:off x="742950" y="1504950"/>
            <a:ext cx="5619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950" b="1">
                <a:solidFill>
                  <a:srgbClr val="0B1F3A"/>
                </a:solidFill>
                <a:latin typeface="Arial"/>
                <a:ea typeface="Arial"/>
                <a:cs typeface="Arial"/>
              </a:defRPr>
            </a:defPPr>
          </a:lstStyle>
          <a:p xmlns:a="http://schemas.openxmlformats.org/drawingml/2006/main">
            <a:pPr algn="l">
              <a:defRPr sz="1950" b="1">
                <a:solidFill>
                  <a:srgbClr val="0B1F3A"/>
                </a:solidFill>
                <a:latin typeface="Arial"/>
                <a:ea typeface="Arial"/>
                <a:cs typeface="Arial"/>
              </a:defRPr>
            </a:pPr>
            <a:r>
              <a:rPr sz="1950" b="1">
                <a:solidFill>
                  <a:srgbClr val="0B1F3A"/>
                </a:solidFill>
                <a:latin typeface="Arial"/>
                <a:ea typeface="Arial"/>
                <a:cs typeface="Arial"/>
              </a:rPr>
              <a:t>Workflow stages</a:t>
            </a:r>
          </a:p>
          <a:p xmlns:a="http://schemas.openxmlformats.org/drawingml/2006/main">
            <a:pPr algn="l">
              <a:defRPr sz="1950" b="1">
                <a:solidFill>
                  <a:srgbClr val="0B1F3A"/>
                </a:solidFill>
                <a:latin typeface="Arial"/>
                <a:ea typeface="Arial"/>
                <a:cs typeface="Arial"/>
              </a:defRPr>
            </a:pPr>
            <a:r>
              <a:rPr sz="1950" b="1">
                <a:solidFill>
                  <a:srgbClr val="0B1F3A"/>
                </a:solidFill>
                <a:latin typeface="Arial"/>
                <a:ea typeface="Arial"/>
                <a:cs typeface="Arial"/>
              </a:rPr>
              <a:t>pytest → frontend build → backend + frontend images → Trivy gate → GHCR SHA tags → optional Helm deploy</a:t>
            </a:r>
          </a:p>
        </p:txBody>
      </p:sp>
      <p:sp>
        <p:nvSpPr>
          <p:cNvPr id="3" name="trivy-fact">
            <a:extLst xmlns:a="http://schemas.openxmlformats.org/drawingml/2006/main">
              <a:ext uri="{FF2B5EF4-FFF2-40B4-BE49-F238E27FC236}">
                <a16:creationId xmlns:a16="http://schemas.microsoft.com/office/drawing/2014/main" id="{9E7A6914-5230-4FBF-91FA-6F911F28B7A4}"/>
              </a:ext>
            </a:extLst>
          </p:cNvPr>
          <p:cNvSpPr>
            <a:spLocks xmlns:a="http://schemas.openxmlformats.org/drawingml/2006/main" noGrp="1"/>
          </p:cNvSpPr>
          <p:nvPr/>
        </p:nvSpPr>
        <p:spPr>
          <a:xfrm xmlns:a="http://schemas.openxmlformats.org/drawingml/2006/main">
            <a:off x="742950" y="3429000"/>
            <a:ext cx="5286375"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a:solidFill>
                  <a:srgbClr val="142033"/>
                </a:solidFill>
                <a:latin typeface="Arial"/>
                <a:ea typeface="Arial"/>
                <a:cs typeface="Arial"/>
              </a:defRPr>
            </a:defPPr>
          </a:lstStyle>
          <a:p xmlns:a="http://schemas.openxmlformats.org/drawingml/2006/main">
            <a:pPr algn="l">
              <a:defRPr sz="1800">
                <a:solidFill>
                  <a:srgbClr val="142033"/>
                </a:solidFill>
                <a:latin typeface="Arial"/>
                <a:ea typeface="Arial"/>
                <a:cs typeface="Arial"/>
              </a:defRPr>
            </a:pPr>
            <a:r>
              <a:rPr sz="1800">
                <a:solidFill>
                  <a:srgbClr val="142033"/>
                </a:solidFill>
                <a:latin typeface="Arial"/>
                <a:ea typeface="Arial"/>
                <a:cs typeface="Arial"/>
              </a:rPr>
              <a:t>Local Trivy 0.76.0 scans found zero HIGH or CRITICAL vulnerabilities in either rebuilt image when unfixed findings were ignored.</a:t>
            </a:r>
          </a:p>
        </p:txBody>
      </p:sp>
      <p:sp>
        <p:nvSpPr>
          <p:cNvPr id="4" name="pipeline-gap">
            <a:extLst xmlns:a="http://schemas.openxmlformats.org/drawingml/2006/main">
              <a:ext uri="{FF2B5EF4-FFF2-40B4-BE49-F238E27FC236}">
                <a16:creationId xmlns:a16="http://schemas.microsoft.com/office/drawing/2014/main" id="{E48D86C5-8EC3-4ACA-A0EF-D9682590F1D4}"/>
              </a:ext>
            </a:extLst>
          </p:cNvPr>
          <p:cNvSpPr>
            <a:spLocks xmlns:a="http://schemas.openxmlformats.org/drawingml/2006/main" noGrp="1"/>
          </p:cNvSpPr>
          <p:nvPr/>
        </p:nvSpPr>
        <p:spPr>
          <a:xfrm xmlns:a="http://schemas.openxmlformats.org/drawingml/2006/main">
            <a:off x="7000875" y="1695450"/>
            <a:ext cx="4333875"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75" b="1">
                <a:solidFill>
                  <a:srgbClr val="C2410C"/>
                </a:solidFill>
                <a:latin typeface="Arial"/>
                <a:ea typeface="Arial"/>
                <a:cs typeface="Arial"/>
              </a:defRPr>
            </a:defPPr>
          </a:lstStyle>
          <a:p xmlns:a="http://schemas.openxmlformats.org/drawingml/2006/main">
            <a:pPr algn="l">
              <a:defRPr sz="1875" b="1">
                <a:solidFill>
                  <a:srgbClr val="C2410C"/>
                </a:solidFill>
                <a:latin typeface="Arial"/>
                <a:ea typeface="Arial"/>
                <a:cs typeface="Arial"/>
              </a:defRPr>
            </a:pPr>
            <a:r>
              <a:rPr sz="1875" b="1">
                <a:solidFill>
                  <a:srgbClr val="C2410C"/>
                </a:solidFill>
                <a:latin typeface="Arial"/>
                <a:ea typeface="Arial"/>
                <a:cs typeface="Arial"/>
              </a:rPr>
              <a:t>No GitHub push or Actions run was made. GHCR publication and CI Trivy output are not yet verified; the workflow file is present and configured.</a:t>
            </a:r>
          </a:p>
        </p:txBody>
      </p:sp>
      <p:sp>
        <p:nvSpPr>
          <p:cNvPr id="5" name="history-fact">
            <a:extLst xmlns:a="http://schemas.openxmlformats.org/drawingml/2006/main">
              <a:ext uri="{FF2B5EF4-FFF2-40B4-BE49-F238E27FC236}">
                <a16:creationId xmlns:a16="http://schemas.microsoft.com/office/drawing/2014/main" id="{FA6BB9B9-D47C-4C3C-8C73-E8D4F53742D6}"/>
              </a:ext>
            </a:extLst>
          </p:cNvPr>
          <p:cNvSpPr>
            <a:spLocks xmlns:a="http://schemas.openxmlformats.org/drawingml/2006/main" noGrp="1"/>
          </p:cNvSpPr>
          <p:nvPr/>
        </p:nvSpPr>
        <p:spPr>
          <a:xfrm xmlns:a="http://schemas.openxmlformats.org/drawingml/2006/main">
            <a:off x="7000875" y="4000500"/>
            <a:ext cx="433387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a:solidFill>
                  <a:srgbClr val="526174"/>
                </a:solidFill>
                <a:latin typeface="Arial"/>
                <a:ea typeface="Arial"/>
                <a:cs typeface="Arial"/>
              </a:defRPr>
            </a:defPPr>
          </a:lstStyle>
          <a:p xmlns:a="http://schemas.openxmlformats.org/drawingml/2006/main">
            <a:pPr algn="l">
              <a:defRPr sz="1725">
                <a:solidFill>
                  <a:srgbClr val="526174"/>
                </a:solidFill>
                <a:latin typeface="Arial"/>
                <a:ea typeface="Arial"/>
                <a:cs typeface="Arial"/>
              </a:defRPr>
            </a:pPr>
            <a:r>
              <a:rPr sz="1725">
                <a:solidFill>
                  <a:srgbClr val="526174"/>
                </a:solidFill>
                <a:latin typeface="Arial"/>
                <a:ea typeface="Arial"/>
                <a:cs typeface="Arial"/>
              </a:rPr>
              <a:t>Local Git history contains 64 commits. The live pipeline-and-deployment demo still needs a pushed change and reachable cluster credentials.</a:t>
            </a:r>
          </a:p>
        </p:txBody>
      </p:sp>
    </p:spTree>
    <p:extLst>
      <p:ext uri="{BB962C8B-B14F-4D97-AF65-F5344CB8AC3E}">
        <p14:creationId xmlns:p14="http://schemas.microsoft.com/office/powerpoint/2010/main" val="1005581250"/>
      </p:ext>
    </p:extLst>
  </p:cSld>
</p:sld>
</file>

<file path=ppt/slides/slide9.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5" name="pending-title">
            <a:extLst xmlns:a="http://schemas.openxmlformats.org/drawingml/2006/main">
              <a:ext uri="{FF2B5EF4-FFF2-40B4-BE49-F238E27FC236}">
                <a16:creationId xmlns:a16="http://schemas.microsoft.com/office/drawing/2014/main" id="{AA79E1F8-2643-44DD-9547-2E99D213DE14}"/>
              </a:ext>
            </a:extLst>
          </p:cNvPr>
          <p:cNvSpPr>
            <a:spLocks xmlns:a="http://schemas.openxmlformats.org/drawingml/2006/main" noGrp="1"/>
          </p:cNvSpPr>
          <p:nvPr/>
        </p:nvSpPr>
        <p:spPr>
          <a:xfrm xmlns:a="http://schemas.openxmlformats.org/drawingml/2006/main">
            <a:off x="685800" y="5524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3600" b="1">
                <a:solidFill>
                  <a:srgbClr val="FFFFFF"/>
                </a:solidFill>
                <a:latin typeface="Arial"/>
                <a:ea typeface="Arial"/>
                <a:cs typeface="Arial"/>
              </a:defRPr>
            </a:def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Cloud deployment remains pending</a:t>
            </a:r>
          </a:p>
        </p:txBody>
      </p:sp>
      <p:sp>
        <p:nvSpPr>
          <p:cNvPr id="2" name="aws-status">
            <a:extLst xmlns:a="http://schemas.openxmlformats.org/drawingml/2006/main">
              <a:ext uri="{FF2B5EF4-FFF2-40B4-BE49-F238E27FC236}">
                <a16:creationId xmlns:a16="http://schemas.microsoft.com/office/drawing/2014/main" id="{5408E57C-9DBC-4220-BA91-73D67060243D}"/>
              </a:ext>
            </a:extLst>
          </p:cNvPr>
          <p:cNvSpPr>
            <a:spLocks xmlns:a="http://schemas.openxmlformats.org/drawingml/2006/main" noGrp="1"/>
          </p:cNvSpPr>
          <p:nvPr/>
        </p:nvSpPr>
        <p:spPr>
          <a:xfrm xmlns:a="http://schemas.openxmlformats.org/drawingml/2006/main">
            <a:off x="742950" y="1685925"/>
            <a:ext cx="102870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a:solidFill>
                  <a:srgbClr val="D7E6F7"/>
                </a:solidFill>
                <a:latin typeface="Arial"/>
                <a:ea typeface="Arial"/>
                <a:cs typeface="Arial"/>
              </a:defRPr>
            </a:defPPr>
          </a:lstStyle>
          <a:p xmlns:a="http://schemas.openxmlformats.org/drawingml/2006/main">
            <a:pPr algn="l">
              <a:defRPr sz="2025">
                <a:solidFill>
                  <a:srgbClr val="D7E6F7"/>
                </a:solidFill>
                <a:latin typeface="Arial"/>
                <a:ea typeface="Arial"/>
                <a:cs typeface="Arial"/>
              </a:defRPr>
            </a:pPr>
            <a:r>
              <a:rPr sz="2025">
                <a:solidFill>
                  <a:srgbClr val="D7E6F7"/>
                </a:solidFill>
                <a:latin typeface="Arial"/>
                <a:ea typeface="Arial"/>
                <a:cs typeface="Arial"/>
              </a:rPr>
              <a:t>Terraform configuration is present and `fmt`, `init`, and `validate` passed. There is no AWS account configured, so no plan, apply, EKS deployment, or destroy was performed.</a:t>
            </a:r>
          </a:p>
        </p:txBody>
      </p:sp>
      <p:sp>
        <p:nvSpPr>
          <p:cNvPr id="3" name="submission-status">
            <a:extLst xmlns:a="http://schemas.openxmlformats.org/drawingml/2006/main">
              <a:ext uri="{FF2B5EF4-FFF2-40B4-BE49-F238E27FC236}">
                <a16:creationId xmlns:a16="http://schemas.microsoft.com/office/drawing/2014/main" id="{225D9850-C81D-4F2A-816A-3E702FC869B4}"/>
              </a:ext>
            </a:extLst>
          </p:cNvPr>
          <p:cNvSpPr>
            <a:spLocks xmlns:a="http://schemas.openxmlformats.org/drawingml/2006/main" noGrp="1"/>
          </p:cNvSpPr>
          <p:nvPr/>
        </p:nvSpPr>
        <p:spPr>
          <a:xfrm xmlns:a="http://schemas.openxmlformats.org/drawingml/2006/main">
            <a:off x="742950" y="3543300"/>
            <a:ext cx="102870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025">
                <a:solidFill>
                  <a:srgbClr val="FFFFFF"/>
                </a:solidFill>
                <a:latin typeface="Arial"/>
                <a:ea typeface="Arial"/>
                <a:cs typeface="Arial"/>
              </a:defRPr>
            </a:defPPr>
          </a:lstStyle>
          <a:p xmlns:a="http://schemas.openxmlformats.org/drawingml/2006/main">
            <a:pPr algn="l">
              <a:defRPr sz="2025">
                <a:solidFill>
                  <a:srgbClr val="FFFFFF"/>
                </a:solidFill>
                <a:latin typeface="Arial"/>
                <a:ea typeface="Arial"/>
                <a:cs typeface="Arial"/>
              </a:defRPr>
            </a:pPr>
            <a:r>
              <a:rPr sz="2025">
                <a:solidFill>
                  <a:srgbClr val="FFFFFF"/>
                </a:solidFill>
                <a:latin typeface="Arial"/>
                <a:ea typeface="Arial"/>
                <a:cs typeface="Arial"/>
              </a:rPr>
              <a:t>For the recorded walkthrough: show the working app, Compose services, tests, Minikube Ingress, Prometheus, and Grafana. State clearly that the GitHub Actions run and AWS deployment are still pending.</a:t>
            </a:r>
          </a:p>
        </p:txBody>
      </p:sp>
      <p:sp>
        <p:nvSpPr>
          <p:cNvPr id="4" name="closing">
            <a:extLst xmlns:a="http://schemas.openxmlformats.org/drawingml/2006/main">
              <a:ext uri="{FF2B5EF4-FFF2-40B4-BE49-F238E27FC236}">
                <a16:creationId xmlns:a16="http://schemas.microsoft.com/office/drawing/2014/main" id="{C64B3E96-40F5-4A91-B9F3-CBE015CB5363}"/>
              </a:ext>
            </a:extLst>
          </p:cNvPr>
          <p:cNvSpPr>
            <a:spLocks xmlns:a="http://schemas.openxmlformats.org/drawingml/2006/main" noGrp="1"/>
          </p:cNvSpPr>
          <p:nvPr/>
        </p:nvSpPr>
        <p:spPr>
          <a:xfrm xmlns:a="http://schemas.openxmlformats.org/drawingml/2006/main">
            <a:off x="742950" y="5629275"/>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725" b="1">
                <a:solidFill>
                  <a:srgbClr val="92D9D0"/>
                </a:solidFill>
                <a:latin typeface="Arial"/>
                <a:ea typeface="Arial"/>
                <a:cs typeface="Arial"/>
              </a:defRPr>
            </a:defPPr>
          </a:lstStyle>
          <a:p xmlns:a="http://schemas.openxmlformats.org/drawingml/2006/main">
            <a:pPr algn="l">
              <a:defRPr sz="1725" b="1">
                <a:solidFill>
                  <a:srgbClr val="92D9D0"/>
                </a:solidFill>
                <a:latin typeface="Arial"/>
                <a:ea typeface="Arial"/>
                <a:cs typeface="Arial"/>
              </a:defRPr>
            </a:pPr>
            <a:r>
              <a:rPr sz="1725" b="1">
                <a:solidFill>
                  <a:srgbClr val="92D9D0"/>
                </a:solidFill>
                <a:latin typeface="Arial"/>
                <a:ea typeface="Arial"/>
                <a:cs typeface="Arial"/>
              </a:rPr>
              <a:t>CampusFix is a custom campus support application, not a TaskBoard clone.</a:t>
            </a:r>
          </a:p>
        </p:txBody>
      </p:sp>
    </p:spTree>
    <p:extLst>
      <p:ext uri="{BB962C8B-B14F-4D97-AF65-F5344CB8AC3E}">
        <p14:creationId xmlns:p14="http://schemas.microsoft.com/office/powerpoint/2010/main" val="5453013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2026-10-16T07:49:43.5660000Z</dcterms:created>
  <dcterms:modified xsi:type="dcterms:W3CDTF">2026-10-16T07:49:43.5660000Z</dcterms:modified>
</coreProperties>
</file>